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30"/>
  </p:notesMasterIdLst>
  <p:handoutMasterIdLst>
    <p:handoutMasterId r:id="rId31"/>
  </p:handoutMasterIdLst>
  <p:sldIdLst>
    <p:sldId id="256" r:id="rId2"/>
    <p:sldId id="258" r:id="rId3"/>
    <p:sldId id="260" r:id="rId4"/>
    <p:sldId id="262" r:id="rId5"/>
    <p:sldId id="268" r:id="rId6"/>
    <p:sldId id="269" r:id="rId7"/>
    <p:sldId id="263" r:id="rId8"/>
    <p:sldId id="270" r:id="rId9"/>
    <p:sldId id="276" r:id="rId10"/>
    <p:sldId id="277" r:id="rId11"/>
    <p:sldId id="278" r:id="rId12"/>
    <p:sldId id="279" r:id="rId13"/>
    <p:sldId id="271" r:id="rId14"/>
    <p:sldId id="272" r:id="rId15"/>
    <p:sldId id="274" r:id="rId16"/>
    <p:sldId id="290" r:id="rId17"/>
    <p:sldId id="275" r:id="rId18"/>
    <p:sldId id="280" r:id="rId19"/>
    <p:sldId id="286" r:id="rId20"/>
    <p:sldId id="287" r:id="rId21"/>
    <p:sldId id="288" r:id="rId22"/>
    <p:sldId id="289" r:id="rId23"/>
    <p:sldId id="284" r:id="rId24"/>
    <p:sldId id="273" r:id="rId25"/>
    <p:sldId id="282" r:id="rId26"/>
    <p:sldId id="283" r:id="rId27"/>
    <p:sldId id="285" r:id="rId28"/>
    <p:sldId id="261" r:id="rId29"/>
  </p:sldIdLst>
  <p:sldSz cx="9144000" cy="6858000" type="screen4x3"/>
  <p:notesSz cx="6858000" cy="9144000"/>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WenQuanYi Micro Hei" charset="0"/>
        <a:cs typeface="WenQuanYi Micro Hei" charset="0"/>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WenQuanYi Micro Hei" charset="0"/>
        <a:cs typeface="WenQuanYi Micro Hei" charset="0"/>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WenQuanYi Micro Hei" charset="0"/>
        <a:cs typeface="WenQuanYi Micro Hei" charset="0"/>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WenQuanYi Micro Hei" charset="0"/>
        <a:cs typeface="WenQuanYi Micro Hei" charset="0"/>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WenQuanYi Micro Hei" charset="0"/>
        <a:cs typeface="WenQuanYi Micro Hei" charset="0"/>
      </a:defRPr>
    </a:lvl5pPr>
    <a:lvl6pPr marL="2286000" algn="l" defTabSz="914400" rtl="0" eaLnBrk="1" latinLnBrk="0" hangingPunct="1">
      <a:defRPr kern="1200">
        <a:solidFill>
          <a:schemeClr val="bg1"/>
        </a:solidFill>
        <a:latin typeface="Arial" charset="0"/>
        <a:ea typeface="WenQuanYi Micro Hei" charset="0"/>
        <a:cs typeface="WenQuanYi Micro Hei" charset="0"/>
      </a:defRPr>
    </a:lvl6pPr>
    <a:lvl7pPr marL="2743200" algn="l" defTabSz="914400" rtl="0" eaLnBrk="1" latinLnBrk="0" hangingPunct="1">
      <a:defRPr kern="1200">
        <a:solidFill>
          <a:schemeClr val="bg1"/>
        </a:solidFill>
        <a:latin typeface="Arial" charset="0"/>
        <a:ea typeface="WenQuanYi Micro Hei" charset="0"/>
        <a:cs typeface="WenQuanYi Micro Hei" charset="0"/>
      </a:defRPr>
    </a:lvl7pPr>
    <a:lvl8pPr marL="3200400" algn="l" defTabSz="914400" rtl="0" eaLnBrk="1" latinLnBrk="0" hangingPunct="1">
      <a:defRPr kern="1200">
        <a:solidFill>
          <a:schemeClr val="bg1"/>
        </a:solidFill>
        <a:latin typeface="Arial" charset="0"/>
        <a:ea typeface="WenQuanYi Micro Hei" charset="0"/>
        <a:cs typeface="WenQuanYi Micro Hei" charset="0"/>
      </a:defRPr>
    </a:lvl8pPr>
    <a:lvl9pPr marL="3657600" algn="l" defTabSz="914400" rtl="0" eaLnBrk="1" latinLnBrk="0" hangingPunct="1">
      <a:defRPr kern="1200">
        <a:solidFill>
          <a:schemeClr val="bg1"/>
        </a:solidFill>
        <a:latin typeface="Arial" charset="0"/>
        <a:ea typeface="WenQuanYi Micro Hei" charset="0"/>
        <a:cs typeface="WenQuanYi Micro Hei"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51" autoAdjust="0"/>
  </p:normalViewPr>
  <p:slideViewPr>
    <p:cSldViewPr>
      <p:cViewPr varScale="1">
        <p:scale>
          <a:sx n="90" d="100"/>
          <a:sy n="90" d="100"/>
        </p:scale>
        <p:origin x="1162" y="62"/>
      </p:cViewPr>
      <p:guideLst>
        <p:guide orient="horz" pos="2160"/>
        <p:guide pos="2880"/>
      </p:guideLst>
    </p:cSldViewPr>
  </p:slideViewPr>
  <p:outlineViewPr>
    <p:cViewPr varScale="1">
      <p:scale>
        <a:sx n="170" d="200"/>
        <a:sy n="170" d="2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5561B7-53AE-7D24-18CD-FF05B0EEB3D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DB328E4-139D-C4F4-E497-AA1A1EE4AC1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87DD6C-A83F-4350-890B-A0CF8A67E2FF}" type="datetimeFigureOut">
              <a:rPr lang="en-IN" smtClean="0"/>
              <a:t>30-05-2022</a:t>
            </a:fld>
            <a:endParaRPr lang="en-IN"/>
          </a:p>
        </p:txBody>
      </p:sp>
      <p:sp>
        <p:nvSpPr>
          <p:cNvPr id="4" name="Footer Placeholder 3">
            <a:extLst>
              <a:ext uri="{FF2B5EF4-FFF2-40B4-BE49-F238E27FC236}">
                <a16:creationId xmlns:a16="http://schemas.microsoft.com/office/drawing/2014/main" id="{848CE237-542D-7C83-CB8C-F27AB9072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D700B1F-E8F8-CC6F-903C-F3B162F8EB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2F496C-BBEF-44DE-8ABB-EEFB0E521C13}" type="slidenum">
              <a:rPr lang="en-IN" smtClean="0"/>
              <a:t>‹#›</a:t>
            </a:fld>
            <a:endParaRPr lang="en-IN"/>
          </a:p>
        </p:txBody>
      </p:sp>
    </p:spTree>
    <p:extLst>
      <p:ext uri="{BB962C8B-B14F-4D97-AF65-F5344CB8AC3E}">
        <p14:creationId xmlns:p14="http://schemas.microsoft.com/office/powerpoint/2010/main" val="425387661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AutoShape 1"/>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IN">
              <a:cs typeface="Arial" charset="0"/>
            </a:endParaRPr>
          </a:p>
        </p:txBody>
      </p:sp>
      <p:sp>
        <p:nvSpPr>
          <p:cNvPr id="6146" name="Rectangle 2"/>
          <p:cNvSpPr>
            <a:spLocks noGrp="1" noChangeArrowheads="1"/>
          </p:cNvSpPr>
          <p:nvPr>
            <p:ph type="hdr"/>
          </p:nvPr>
        </p:nvSpPr>
        <p:spPr bwMode="auto">
          <a:xfrm>
            <a:off x="0" y="0"/>
            <a:ext cx="2970213"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endParaRPr lang="en-US"/>
          </a:p>
        </p:txBody>
      </p:sp>
      <p:sp>
        <p:nvSpPr>
          <p:cNvPr id="6147" name="Rectangle 3"/>
          <p:cNvSpPr>
            <a:spLocks noGrp="1" noChangeArrowheads="1"/>
          </p:cNvSpPr>
          <p:nvPr>
            <p:ph type="dt"/>
          </p:nvPr>
        </p:nvSpPr>
        <p:spPr bwMode="auto">
          <a:xfrm>
            <a:off x="3884613" y="0"/>
            <a:ext cx="2970212" cy="4556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endParaRPr lang="en-US"/>
          </a:p>
        </p:txBody>
      </p:sp>
      <p:sp>
        <p:nvSpPr>
          <p:cNvPr id="12293" name="Rectangle 4"/>
          <p:cNvSpPr>
            <a:spLocks noGrp="1" noRot="1" noChangeAspect="1" noChangeArrowheads="1"/>
          </p:cNvSpPr>
          <p:nvPr>
            <p:ph type="sldImg"/>
          </p:nvPr>
        </p:nvSpPr>
        <p:spPr bwMode="auto">
          <a:xfrm>
            <a:off x="1143000" y="685800"/>
            <a:ext cx="4570413" cy="3427413"/>
          </a:xfrm>
          <a:prstGeom prst="rect">
            <a:avLst/>
          </a:prstGeom>
          <a:solidFill>
            <a:srgbClr val="FFFFFF"/>
          </a:solidFill>
          <a:ln w="9360">
            <a:solidFill>
              <a:srgbClr val="000000"/>
            </a:solidFill>
            <a:miter lim="800000"/>
            <a:headEnd/>
            <a:tailEnd/>
          </a:ln>
        </p:spPr>
      </p:sp>
      <p:sp>
        <p:nvSpPr>
          <p:cNvPr id="6149" name="Rectangle 5"/>
          <p:cNvSpPr>
            <a:spLocks noGrp="1" noChangeArrowheads="1"/>
          </p:cNvSpPr>
          <p:nvPr>
            <p:ph type="body"/>
          </p:nvPr>
        </p:nvSpPr>
        <p:spPr bwMode="auto">
          <a:xfrm>
            <a:off x="685800" y="4343400"/>
            <a:ext cx="5484813" cy="4113213"/>
          </a:xfrm>
          <a:prstGeom prst="rect">
            <a:avLst/>
          </a:prstGeom>
          <a:noFill/>
          <a:ln w="9525">
            <a:noFill/>
            <a:round/>
            <a:headEnd/>
            <a:tailEnd/>
          </a:ln>
          <a:effectLst/>
        </p:spPr>
        <p:txBody>
          <a:bodyPr vert="horz" wrap="square" lIns="90000" tIns="46800" rIns="90000" bIns="46800" numCol="1" anchor="t" anchorCtr="0" compatLnSpc="1">
            <a:prstTxWarp prst="textNoShape">
              <a:avLst/>
            </a:prstTxWarp>
          </a:bodyPr>
          <a:lstStyle/>
          <a:p>
            <a:pPr lvl="0"/>
            <a:endParaRPr lang="en-US" noProof="0"/>
          </a:p>
        </p:txBody>
      </p:sp>
      <p:sp>
        <p:nvSpPr>
          <p:cNvPr id="6150" name="Rectangle 6"/>
          <p:cNvSpPr>
            <a:spLocks noGrp="1" noChangeArrowheads="1"/>
          </p:cNvSpPr>
          <p:nvPr>
            <p:ph type="ftr"/>
          </p:nvPr>
        </p:nvSpPr>
        <p:spPr bwMode="auto">
          <a:xfrm>
            <a:off x="0" y="8685213"/>
            <a:ext cx="2970213" cy="455612"/>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endParaRPr lang="en-US"/>
          </a:p>
        </p:txBody>
      </p:sp>
      <p:sp>
        <p:nvSpPr>
          <p:cNvPr id="6151" name="Rectangle 7"/>
          <p:cNvSpPr>
            <a:spLocks noGrp="1" noChangeArrowheads="1"/>
          </p:cNvSpPr>
          <p:nvPr>
            <p:ph type="sldNum"/>
          </p:nvPr>
        </p:nvSpPr>
        <p:spPr bwMode="auto">
          <a:xfrm>
            <a:off x="3884613" y="8685213"/>
            <a:ext cx="2970212" cy="455612"/>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fld id="{75DA3ED9-56A9-4922-902E-EB0DE885839A}" type="slidenum">
              <a:rPr lang="en-US"/>
              <a:pPr>
                <a:defRPr/>
              </a:pPr>
              <a:t>‹#›</a:t>
            </a:fld>
            <a:endParaRPr lang="en-US"/>
          </a:p>
        </p:txBody>
      </p:sp>
    </p:spTree>
  </p:cSld>
  <p:clrMap bg1="lt1" tx1="dk1" bg2="lt2" tx2="dk2" accent1="accent1" accent2="accent2" accent3="accent3" accent4="accent4" accent5="accent5" accent6="accent6" hlink="hlink" folHlink="folHlink"/>
  <p:hf hdr="0" dt="0"/>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p:nvPr>
        </p:nvSpPr>
        <p:spPr>
          <a:noFill/>
        </p:spPr>
        <p:txBody>
          <a:bodyPr/>
          <a:lstStyle/>
          <a:p>
            <a:fld id="{9BDEE09D-C06C-4804-BA74-E1039CB51086}" type="slidenum">
              <a:rPr lang="en-US" smtClean="0">
                <a:ea typeface="WenQuanYi Micro Hei" charset="0"/>
                <a:cs typeface="WenQuanYi Micro Hei" charset="0"/>
              </a:rPr>
              <a:pPr/>
              <a:t>1</a:t>
            </a:fld>
            <a:endParaRPr lang="en-US">
              <a:ea typeface="WenQuanYi Micro Hei" charset="0"/>
              <a:cs typeface="WenQuanYi Micro Hei" charset="0"/>
            </a:endParaRPr>
          </a:p>
        </p:txBody>
      </p:sp>
      <p:sp>
        <p:nvSpPr>
          <p:cNvPr id="13315" name="Rectangle 1"/>
          <p:cNvSpPr>
            <a:spLocks noGrp="1" noRot="1" noChangeAspect="1" noChangeArrowheads="1" noTextEdit="1"/>
          </p:cNvSpPr>
          <p:nvPr>
            <p:ph type="sldImg"/>
          </p:nvPr>
        </p:nvSpPr>
        <p:spPr>
          <a:xfrm>
            <a:off x="1143000" y="685800"/>
            <a:ext cx="4572000" cy="3429000"/>
          </a:xfrm>
          <a:ln/>
        </p:spPr>
      </p:sp>
      <p:sp>
        <p:nvSpPr>
          <p:cNvPr id="13316" name="Text Box 2"/>
          <p:cNvSpPr>
            <a:spLocks noGrp="1" noChangeArrowheads="1"/>
          </p:cNvSpPr>
          <p:nvPr>
            <p:ph type="body" idx="1"/>
          </p:nvPr>
        </p:nvSpPr>
        <p:spPr>
          <a:xfrm>
            <a:off x="685800" y="4343400"/>
            <a:ext cx="5486400" cy="4241800"/>
          </a:xfrm>
          <a:noFill/>
          <a:ln/>
        </p:spPr>
        <p:txBody>
          <a:bodyPr/>
          <a:lstStyle/>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a:p>
            <a:pPr eaLnBrk="1" hangingPunct="1">
              <a:lnSpc>
                <a:spcPct val="80000"/>
              </a:lnSpc>
              <a:spcBef>
                <a:spcPts val="3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800">
              <a:latin typeface="Calibri" pitchFamily="32" charset="0"/>
              <a:ea typeface="WenQuanYi Micro Hei" charset="0"/>
              <a:cs typeface="WenQuanYi Micro Hei" charset="0"/>
            </a:endParaRPr>
          </a:p>
        </p:txBody>
      </p:sp>
      <p:sp>
        <p:nvSpPr>
          <p:cNvPr id="2" name="Footer Placeholder 1">
            <a:extLst>
              <a:ext uri="{FF2B5EF4-FFF2-40B4-BE49-F238E27FC236}">
                <a16:creationId xmlns:a16="http://schemas.microsoft.com/office/drawing/2014/main" id="{AA374D5E-4CD0-C988-5291-B7158E0C5388}"/>
              </a:ext>
            </a:extLst>
          </p:cNvPr>
          <p:cNvSpPr>
            <a:spLocks noGrp="1"/>
          </p:cNvSpPr>
          <p:nvPr>
            <p:ph type="ftr"/>
          </p:nvPr>
        </p:nvSpPr>
        <p:spPr/>
        <p:txBody>
          <a:bodyPr/>
          <a:lstStyle/>
          <a:p>
            <a:pPr>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7"/>
          <p:cNvSpPr>
            <a:spLocks noGrp="1" noChangeArrowheads="1"/>
          </p:cNvSpPr>
          <p:nvPr>
            <p:ph type="sldNum" sz="quarter"/>
          </p:nvPr>
        </p:nvSpPr>
        <p:spPr>
          <a:noFill/>
        </p:spPr>
        <p:txBody>
          <a:bodyPr/>
          <a:lstStyle/>
          <a:p>
            <a:fld id="{8A363845-DB7D-4F9B-B1E1-8DB60DE31716}" type="slidenum">
              <a:rPr lang="en-US" smtClean="0">
                <a:ea typeface="WenQuanYi Micro Hei" charset="0"/>
                <a:cs typeface="WenQuanYi Micro Hei" charset="0"/>
              </a:rPr>
              <a:pPr/>
              <a:t>2</a:t>
            </a:fld>
            <a:endParaRPr lang="en-US">
              <a:ea typeface="WenQuanYi Micro Hei" charset="0"/>
              <a:cs typeface="WenQuanYi Micro Hei" charset="0"/>
            </a:endParaRPr>
          </a:p>
        </p:txBody>
      </p:sp>
      <p:sp>
        <p:nvSpPr>
          <p:cNvPr id="14339" name="Rectangle 1"/>
          <p:cNvSpPr>
            <a:spLocks noGrp="1" noRot="1" noChangeAspect="1" noChangeArrowheads="1" noTextEdit="1"/>
          </p:cNvSpPr>
          <p:nvPr>
            <p:ph type="sldImg"/>
          </p:nvPr>
        </p:nvSpPr>
        <p:spPr>
          <a:xfrm>
            <a:off x="1143000" y="685800"/>
            <a:ext cx="4572000" cy="3429000"/>
          </a:xfrm>
          <a:ln/>
        </p:spPr>
      </p:sp>
      <p:sp>
        <p:nvSpPr>
          <p:cNvPr id="14340" name="Rectangle 2"/>
          <p:cNvSpPr>
            <a:spLocks noGrp="1" noChangeArrowheads="1"/>
          </p:cNvSpPr>
          <p:nvPr>
            <p:ph type="body" idx="1"/>
          </p:nvPr>
        </p:nvSpPr>
        <p:spPr>
          <a:xfrm>
            <a:off x="685800" y="4343400"/>
            <a:ext cx="5486400" cy="4114800"/>
          </a:xfrm>
          <a:noFill/>
          <a:ln/>
        </p:spPr>
        <p:txBody>
          <a:bodyPr wrap="none" anchor="ctr"/>
          <a:lstStyle/>
          <a:p>
            <a:endParaRPr lang="en-US"/>
          </a:p>
        </p:txBody>
      </p:sp>
      <p:sp>
        <p:nvSpPr>
          <p:cNvPr id="2" name="Footer Placeholder 1">
            <a:extLst>
              <a:ext uri="{FF2B5EF4-FFF2-40B4-BE49-F238E27FC236}">
                <a16:creationId xmlns:a16="http://schemas.microsoft.com/office/drawing/2014/main" id="{483F7526-4637-C355-8A22-A5838FB1B7E7}"/>
              </a:ext>
            </a:extLst>
          </p:cNvPr>
          <p:cNvSpPr>
            <a:spLocks noGrp="1"/>
          </p:cNvSpPr>
          <p:nvPr>
            <p:ph type="ftr"/>
          </p:nvPr>
        </p:nvSpPr>
        <p:spPr/>
        <p:txBody>
          <a:bodyPr/>
          <a:lstStyle/>
          <a:p>
            <a:pPr>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7"/>
          <p:cNvSpPr>
            <a:spLocks noGrp="1" noChangeArrowheads="1"/>
          </p:cNvSpPr>
          <p:nvPr>
            <p:ph type="sldNum" sz="quarter"/>
          </p:nvPr>
        </p:nvSpPr>
        <p:spPr>
          <a:noFill/>
        </p:spPr>
        <p:txBody>
          <a:bodyPr/>
          <a:lstStyle/>
          <a:p>
            <a:fld id="{FC763BA2-2096-40EA-BC8A-7F095D2AADD3}" type="slidenum">
              <a:rPr lang="en-US" smtClean="0">
                <a:ea typeface="WenQuanYi Micro Hei" charset="0"/>
                <a:cs typeface="WenQuanYi Micro Hei" charset="0"/>
              </a:rPr>
              <a:pPr/>
              <a:t>3</a:t>
            </a:fld>
            <a:endParaRPr lang="en-US">
              <a:ea typeface="WenQuanYi Micro Hei" charset="0"/>
              <a:cs typeface="WenQuanYi Micro Hei" charset="0"/>
            </a:endParaRPr>
          </a:p>
        </p:txBody>
      </p:sp>
      <p:sp>
        <p:nvSpPr>
          <p:cNvPr id="15363" name="Rectangle 1"/>
          <p:cNvSpPr>
            <a:spLocks noGrp="1" noRot="1" noChangeAspect="1" noChangeArrowheads="1" noTextEdit="1"/>
          </p:cNvSpPr>
          <p:nvPr>
            <p:ph type="sldImg"/>
          </p:nvPr>
        </p:nvSpPr>
        <p:spPr>
          <a:xfrm>
            <a:off x="1143000" y="685800"/>
            <a:ext cx="4572000" cy="3429000"/>
          </a:xfrm>
          <a:ln/>
        </p:spPr>
      </p:sp>
      <p:sp>
        <p:nvSpPr>
          <p:cNvPr id="15364" name="Rectangle 2"/>
          <p:cNvSpPr>
            <a:spLocks noGrp="1" noChangeArrowheads="1"/>
          </p:cNvSpPr>
          <p:nvPr>
            <p:ph type="body" idx="1"/>
          </p:nvPr>
        </p:nvSpPr>
        <p:spPr>
          <a:xfrm>
            <a:off x="685800" y="4343400"/>
            <a:ext cx="5486400" cy="4114800"/>
          </a:xfrm>
          <a:noFill/>
          <a:ln/>
        </p:spPr>
        <p:txBody>
          <a:bodyPr wrap="none" anchor="ctr"/>
          <a:lstStyle/>
          <a:p>
            <a:endParaRPr lang="en-US"/>
          </a:p>
        </p:txBody>
      </p:sp>
      <p:sp>
        <p:nvSpPr>
          <p:cNvPr id="2" name="Footer Placeholder 1">
            <a:extLst>
              <a:ext uri="{FF2B5EF4-FFF2-40B4-BE49-F238E27FC236}">
                <a16:creationId xmlns:a16="http://schemas.microsoft.com/office/drawing/2014/main" id="{4DD1B0E4-375C-258C-E065-C73BB8821DDB}"/>
              </a:ext>
            </a:extLst>
          </p:cNvPr>
          <p:cNvSpPr>
            <a:spLocks noGrp="1"/>
          </p:cNvSpPr>
          <p:nvPr>
            <p:ph type="ftr"/>
          </p:nvPr>
        </p:nvSpPr>
        <p:spPr/>
        <p:txBody>
          <a:bodyPr/>
          <a:lstStyle/>
          <a:p>
            <a:pPr>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p:nvPr>
        </p:nvSpPr>
        <p:spPr/>
        <p:txBody>
          <a:bodyPr/>
          <a:lstStyle/>
          <a:p>
            <a:pPr>
              <a:defRPr/>
            </a:pPr>
            <a:fld id="{75DA3ED9-56A9-4922-902E-EB0DE885839A}" type="slidenum">
              <a:rPr lang="en-US" smtClean="0"/>
              <a:pPr>
                <a:defRPr/>
              </a:pPr>
              <a:t>4</a:t>
            </a:fld>
            <a:endParaRPr lang="en-US"/>
          </a:p>
        </p:txBody>
      </p:sp>
      <p:sp>
        <p:nvSpPr>
          <p:cNvPr id="5" name="Footer Placeholder 4">
            <a:extLst>
              <a:ext uri="{FF2B5EF4-FFF2-40B4-BE49-F238E27FC236}">
                <a16:creationId xmlns:a16="http://schemas.microsoft.com/office/drawing/2014/main" id="{2640DC42-FEC3-2795-2FBF-724F8FCA9648}"/>
              </a:ext>
            </a:extLst>
          </p:cNvPr>
          <p:cNvSpPr>
            <a:spLocks noGrp="1"/>
          </p:cNvSpPr>
          <p:nvPr>
            <p:ph type="ftr"/>
          </p:nvPr>
        </p:nvSpPr>
        <p:spPr/>
        <p:txBody>
          <a:bodyPr/>
          <a:lstStyle/>
          <a:p>
            <a:pPr>
              <a:defRPr/>
            </a:pPr>
            <a:endParaRPr lang="en-US"/>
          </a:p>
        </p:txBody>
      </p:sp>
    </p:spTree>
    <p:extLst>
      <p:ext uri="{BB962C8B-B14F-4D97-AF65-F5344CB8AC3E}">
        <p14:creationId xmlns:p14="http://schemas.microsoft.com/office/powerpoint/2010/main" val="1603436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7"/>
          <p:cNvSpPr>
            <a:spLocks noGrp="1" noChangeArrowheads="1"/>
          </p:cNvSpPr>
          <p:nvPr>
            <p:ph type="sldNum" sz="quarter"/>
          </p:nvPr>
        </p:nvSpPr>
        <p:spPr>
          <a:noFill/>
        </p:spPr>
        <p:txBody>
          <a:bodyPr/>
          <a:lstStyle/>
          <a:p>
            <a:fld id="{869FF2BB-34FB-43BC-95A9-DBAE18BEF059}" type="slidenum">
              <a:rPr lang="en-US" smtClean="0">
                <a:ea typeface="WenQuanYi Micro Hei" charset="0"/>
                <a:cs typeface="WenQuanYi Micro Hei" charset="0"/>
              </a:rPr>
              <a:pPr/>
              <a:t>28</a:t>
            </a:fld>
            <a:endParaRPr lang="en-US">
              <a:ea typeface="WenQuanYi Micro Hei" charset="0"/>
              <a:cs typeface="WenQuanYi Micro Hei" charset="0"/>
            </a:endParaRPr>
          </a:p>
        </p:txBody>
      </p:sp>
      <p:sp>
        <p:nvSpPr>
          <p:cNvPr id="16387" name="Rectangle 1"/>
          <p:cNvSpPr>
            <a:spLocks noGrp="1" noRot="1" noChangeAspect="1" noChangeArrowheads="1" noTextEdit="1"/>
          </p:cNvSpPr>
          <p:nvPr>
            <p:ph type="sldImg"/>
          </p:nvPr>
        </p:nvSpPr>
        <p:spPr>
          <a:xfrm>
            <a:off x="1143000" y="685800"/>
            <a:ext cx="4572000" cy="3429000"/>
          </a:xfrm>
          <a:ln/>
        </p:spPr>
      </p:sp>
      <p:sp>
        <p:nvSpPr>
          <p:cNvPr id="16388" name="Rectangle 2"/>
          <p:cNvSpPr>
            <a:spLocks noGrp="1" noChangeArrowheads="1"/>
          </p:cNvSpPr>
          <p:nvPr>
            <p:ph type="body" idx="1"/>
          </p:nvPr>
        </p:nvSpPr>
        <p:spPr>
          <a:xfrm>
            <a:off x="685800" y="4343400"/>
            <a:ext cx="5486400" cy="4114800"/>
          </a:xfrm>
          <a:noFill/>
          <a:ln/>
        </p:spPr>
        <p:txBody>
          <a:bodyPr wrap="none" anchor="ctr"/>
          <a:lstStyle/>
          <a:p>
            <a:endParaRPr lang="en-US"/>
          </a:p>
        </p:txBody>
      </p:sp>
      <p:sp>
        <p:nvSpPr>
          <p:cNvPr id="2" name="Footer Placeholder 1">
            <a:extLst>
              <a:ext uri="{FF2B5EF4-FFF2-40B4-BE49-F238E27FC236}">
                <a16:creationId xmlns:a16="http://schemas.microsoft.com/office/drawing/2014/main" id="{3A69334D-C9FA-8FA3-2561-1D2308DD3497}"/>
              </a:ext>
            </a:extLst>
          </p:cNvPr>
          <p:cNvSpPr>
            <a:spLocks noGrp="1"/>
          </p:cNvSpPr>
          <p:nvPr>
            <p:ph type="ftr"/>
          </p:nvPr>
        </p:nvSpPr>
        <p:spPr/>
        <p:txBody>
          <a:bodyPr/>
          <a:lstStyle/>
          <a:p>
            <a:pPr>
              <a:defRPr/>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5"/>
          <p:cNvSpPr>
            <a:spLocks noGrp="1" noChangeArrowheads="1"/>
          </p:cNvSpPr>
          <p:nvPr>
            <p:ph type="dt" idx="10"/>
          </p:nvPr>
        </p:nvSpPr>
        <p:spPr>
          <a:ln/>
        </p:spPr>
        <p:txBody>
          <a:bodyPr/>
          <a:lstStyle>
            <a:lvl1pPr>
              <a:defRPr/>
            </a:lvl1pPr>
          </a:lstStyle>
          <a:p>
            <a:pPr>
              <a:defRPr/>
            </a:pPr>
            <a:endParaRPr lang="en-IN"/>
          </a:p>
        </p:txBody>
      </p:sp>
      <p:sp>
        <p:nvSpPr>
          <p:cNvPr id="5" name="Rectangle 7"/>
          <p:cNvSpPr>
            <a:spLocks noGrp="1" noChangeArrowheads="1"/>
          </p:cNvSpPr>
          <p:nvPr>
            <p:ph type="sldNum" idx="11"/>
          </p:nvPr>
        </p:nvSpPr>
        <p:spPr>
          <a:ln/>
        </p:spPr>
        <p:txBody>
          <a:bodyPr/>
          <a:lstStyle>
            <a:lvl1pPr>
              <a:defRPr/>
            </a:lvl1pPr>
          </a:lstStyle>
          <a:p>
            <a:pPr>
              <a:defRPr/>
            </a:pPr>
            <a:fld id="{23EB5ECB-B20F-4F8D-96D9-4C5E90CA7BA5}" type="slidenum">
              <a:rPr lang="en-IN"/>
              <a:pPr>
                <a:defRPr/>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5"/>
          <p:cNvSpPr>
            <a:spLocks noGrp="1" noChangeArrowheads="1"/>
          </p:cNvSpPr>
          <p:nvPr>
            <p:ph type="dt" idx="10"/>
          </p:nvPr>
        </p:nvSpPr>
        <p:spPr>
          <a:ln/>
        </p:spPr>
        <p:txBody>
          <a:bodyPr/>
          <a:lstStyle>
            <a:lvl1pPr>
              <a:defRPr/>
            </a:lvl1pPr>
          </a:lstStyle>
          <a:p>
            <a:pPr>
              <a:defRPr/>
            </a:pPr>
            <a:endParaRPr lang="en-IN"/>
          </a:p>
        </p:txBody>
      </p:sp>
      <p:sp>
        <p:nvSpPr>
          <p:cNvPr id="5" name="Rectangle 7"/>
          <p:cNvSpPr>
            <a:spLocks noGrp="1" noChangeArrowheads="1"/>
          </p:cNvSpPr>
          <p:nvPr>
            <p:ph type="sldNum" idx="11"/>
          </p:nvPr>
        </p:nvSpPr>
        <p:spPr>
          <a:ln/>
        </p:spPr>
        <p:txBody>
          <a:bodyPr/>
          <a:lstStyle>
            <a:lvl1pPr>
              <a:defRPr/>
            </a:lvl1pPr>
          </a:lstStyle>
          <a:p>
            <a:pPr>
              <a:defRPr/>
            </a:pPr>
            <a:fld id="{CEB187A1-E9BA-4A5C-8BDB-12EF46037AE1}" type="slidenum">
              <a:rPr lang="en-IN"/>
              <a:pPr>
                <a:defRPr/>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idx="10"/>
          </p:nvPr>
        </p:nvSpPr>
        <p:spPr>
          <a:ln/>
        </p:spPr>
        <p:txBody>
          <a:bodyPr/>
          <a:lstStyle>
            <a:lvl1pPr>
              <a:defRPr/>
            </a:lvl1pPr>
          </a:lstStyle>
          <a:p>
            <a:pPr>
              <a:defRPr/>
            </a:pPr>
            <a:endParaRPr lang="en-IN"/>
          </a:p>
        </p:txBody>
      </p:sp>
      <p:sp>
        <p:nvSpPr>
          <p:cNvPr id="5" name="Rectangle 7"/>
          <p:cNvSpPr>
            <a:spLocks noGrp="1" noChangeArrowheads="1"/>
          </p:cNvSpPr>
          <p:nvPr>
            <p:ph type="sldNum" idx="11"/>
          </p:nvPr>
        </p:nvSpPr>
        <p:spPr>
          <a:ln/>
        </p:spPr>
        <p:txBody>
          <a:bodyPr/>
          <a:lstStyle>
            <a:lvl1pPr>
              <a:defRPr/>
            </a:lvl1pPr>
          </a:lstStyle>
          <a:p>
            <a:pPr>
              <a:defRPr/>
            </a:pPr>
            <a:fld id="{7F1DE4E9-0400-4967-B76A-E6EB6F16F2C2}" type="slidenum">
              <a:rPr lang="en-IN"/>
              <a:pPr>
                <a:defRPr/>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914400" y="1447800"/>
            <a:ext cx="3808413" cy="45704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875213" y="1447800"/>
            <a:ext cx="3810000" cy="45704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5"/>
          <p:cNvSpPr>
            <a:spLocks noGrp="1" noChangeArrowheads="1"/>
          </p:cNvSpPr>
          <p:nvPr>
            <p:ph type="dt" idx="10"/>
          </p:nvPr>
        </p:nvSpPr>
        <p:spPr>
          <a:ln/>
        </p:spPr>
        <p:txBody>
          <a:bodyPr/>
          <a:lstStyle>
            <a:lvl1pPr>
              <a:defRPr/>
            </a:lvl1pPr>
          </a:lstStyle>
          <a:p>
            <a:pPr>
              <a:defRPr/>
            </a:pPr>
            <a:endParaRPr lang="en-IN"/>
          </a:p>
        </p:txBody>
      </p:sp>
      <p:sp>
        <p:nvSpPr>
          <p:cNvPr id="6" name="Rectangle 7"/>
          <p:cNvSpPr>
            <a:spLocks noGrp="1" noChangeArrowheads="1"/>
          </p:cNvSpPr>
          <p:nvPr>
            <p:ph type="sldNum" idx="11"/>
          </p:nvPr>
        </p:nvSpPr>
        <p:spPr>
          <a:ln/>
        </p:spPr>
        <p:txBody>
          <a:bodyPr/>
          <a:lstStyle>
            <a:lvl1pPr>
              <a:defRPr/>
            </a:lvl1pPr>
          </a:lstStyle>
          <a:p>
            <a:pPr>
              <a:defRPr/>
            </a:pPr>
            <a:fld id="{F2EF971A-858D-4D20-A0B4-54B85B82E7AB}" type="slidenum">
              <a:rPr lang="en-IN"/>
              <a:pPr>
                <a:defRPr/>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5"/>
          <p:cNvSpPr>
            <a:spLocks noGrp="1" noChangeArrowheads="1"/>
          </p:cNvSpPr>
          <p:nvPr>
            <p:ph type="dt" idx="10"/>
          </p:nvPr>
        </p:nvSpPr>
        <p:spPr>
          <a:ln/>
        </p:spPr>
        <p:txBody>
          <a:bodyPr/>
          <a:lstStyle>
            <a:lvl1pPr>
              <a:defRPr/>
            </a:lvl1pPr>
          </a:lstStyle>
          <a:p>
            <a:pPr>
              <a:defRPr/>
            </a:pPr>
            <a:endParaRPr lang="en-IN"/>
          </a:p>
        </p:txBody>
      </p:sp>
      <p:sp>
        <p:nvSpPr>
          <p:cNvPr id="8" name="Rectangle 7"/>
          <p:cNvSpPr>
            <a:spLocks noGrp="1" noChangeArrowheads="1"/>
          </p:cNvSpPr>
          <p:nvPr>
            <p:ph type="sldNum" idx="11"/>
          </p:nvPr>
        </p:nvSpPr>
        <p:spPr>
          <a:ln/>
        </p:spPr>
        <p:txBody>
          <a:bodyPr/>
          <a:lstStyle>
            <a:lvl1pPr>
              <a:defRPr/>
            </a:lvl1pPr>
          </a:lstStyle>
          <a:p>
            <a:pPr>
              <a:defRPr/>
            </a:pPr>
            <a:fld id="{EB9BFAD9-122C-4926-A5E2-4F73F55FFDCD}" type="slidenum">
              <a:rPr lang="en-IN"/>
              <a:pPr>
                <a:defRPr/>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5"/>
          <p:cNvSpPr>
            <a:spLocks noGrp="1" noChangeArrowheads="1"/>
          </p:cNvSpPr>
          <p:nvPr>
            <p:ph type="dt" idx="10"/>
          </p:nvPr>
        </p:nvSpPr>
        <p:spPr>
          <a:ln/>
        </p:spPr>
        <p:txBody>
          <a:bodyPr/>
          <a:lstStyle>
            <a:lvl1pPr>
              <a:defRPr/>
            </a:lvl1pPr>
          </a:lstStyle>
          <a:p>
            <a:pPr>
              <a:defRPr/>
            </a:pPr>
            <a:endParaRPr lang="en-IN"/>
          </a:p>
        </p:txBody>
      </p:sp>
      <p:sp>
        <p:nvSpPr>
          <p:cNvPr id="4" name="Rectangle 7"/>
          <p:cNvSpPr>
            <a:spLocks noGrp="1" noChangeArrowheads="1"/>
          </p:cNvSpPr>
          <p:nvPr>
            <p:ph type="sldNum" idx="11"/>
          </p:nvPr>
        </p:nvSpPr>
        <p:spPr>
          <a:ln/>
        </p:spPr>
        <p:txBody>
          <a:bodyPr/>
          <a:lstStyle>
            <a:lvl1pPr>
              <a:defRPr/>
            </a:lvl1pPr>
          </a:lstStyle>
          <a:p>
            <a:pPr>
              <a:defRPr/>
            </a:pPr>
            <a:fld id="{7BC02745-418F-4EEB-BC92-D8D80D468C06}" type="slidenum">
              <a:rPr lang="en-IN"/>
              <a:pPr>
                <a:defRPr/>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idx="10"/>
          </p:nvPr>
        </p:nvSpPr>
        <p:spPr>
          <a:ln/>
        </p:spPr>
        <p:txBody>
          <a:bodyPr/>
          <a:lstStyle>
            <a:lvl1pPr>
              <a:defRPr/>
            </a:lvl1pPr>
          </a:lstStyle>
          <a:p>
            <a:pPr>
              <a:defRPr/>
            </a:pPr>
            <a:endParaRPr lang="en-IN"/>
          </a:p>
        </p:txBody>
      </p:sp>
      <p:sp>
        <p:nvSpPr>
          <p:cNvPr id="3" name="Rectangle 7"/>
          <p:cNvSpPr>
            <a:spLocks noGrp="1" noChangeArrowheads="1"/>
          </p:cNvSpPr>
          <p:nvPr>
            <p:ph type="sldNum" idx="11"/>
          </p:nvPr>
        </p:nvSpPr>
        <p:spPr>
          <a:ln/>
        </p:spPr>
        <p:txBody>
          <a:bodyPr/>
          <a:lstStyle>
            <a:lvl1pPr>
              <a:defRPr/>
            </a:lvl1pPr>
          </a:lstStyle>
          <a:p>
            <a:pPr>
              <a:defRPr/>
            </a:pPr>
            <a:fld id="{A22CB52C-2AFD-4991-A309-066165D19989}" type="slidenum">
              <a:rPr lang="en-IN"/>
              <a:pPr>
                <a:defRPr/>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idx="10"/>
          </p:nvPr>
        </p:nvSpPr>
        <p:spPr>
          <a:ln/>
        </p:spPr>
        <p:txBody>
          <a:bodyPr/>
          <a:lstStyle>
            <a:lvl1pPr>
              <a:defRPr/>
            </a:lvl1pPr>
          </a:lstStyle>
          <a:p>
            <a:pPr>
              <a:defRPr/>
            </a:pPr>
            <a:endParaRPr lang="en-IN"/>
          </a:p>
        </p:txBody>
      </p:sp>
      <p:sp>
        <p:nvSpPr>
          <p:cNvPr id="6" name="Rectangle 7"/>
          <p:cNvSpPr>
            <a:spLocks noGrp="1" noChangeArrowheads="1"/>
          </p:cNvSpPr>
          <p:nvPr>
            <p:ph type="sldNum" idx="11"/>
          </p:nvPr>
        </p:nvSpPr>
        <p:spPr>
          <a:ln/>
        </p:spPr>
        <p:txBody>
          <a:bodyPr/>
          <a:lstStyle>
            <a:lvl1pPr>
              <a:defRPr/>
            </a:lvl1pPr>
          </a:lstStyle>
          <a:p>
            <a:pPr>
              <a:defRPr/>
            </a:pPr>
            <a:fld id="{A3748819-C127-4516-ABA1-1FB992E2A187}" type="slidenum">
              <a:rPr lang="en-IN"/>
              <a:pPr>
                <a:defRPr/>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idx="10"/>
          </p:nvPr>
        </p:nvSpPr>
        <p:spPr>
          <a:ln/>
        </p:spPr>
        <p:txBody>
          <a:bodyPr/>
          <a:lstStyle>
            <a:lvl1pPr>
              <a:defRPr/>
            </a:lvl1pPr>
          </a:lstStyle>
          <a:p>
            <a:pPr>
              <a:defRPr/>
            </a:pPr>
            <a:endParaRPr lang="en-IN"/>
          </a:p>
        </p:txBody>
      </p:sp>
      <p:sp>
        <p:nvSpPr>
          <p:cNvPr id="6" name="Rectangle 7"/>
          <p:cNvSpPr>
            <a:spLocks noGrp="1" noChangeArrowheads="1"/>
          </p:cNvSpPr>
          <p:nvPr>
            <p:ph type="sldNum" idx="11"/>
          </p:nvPr>
        </p:nvSpPr>
        <p:spPr>
          <a:ln/>
        </p:spPr>
        <p:txBody>
          <a:bodyPr/>
          <a:lstStyle>
            <a:lvl1pPr>
              <a:defRPr/>
            </a:lvl1pPr>
          </a:lstStyle>
          <a:p>
            <a:pPr>
              <a:defRPr/>
            </a:pPr>
            <a:fld id="{66B4FF66-00FA-403F-B320-B5981ED4F3B1}" type="slidenum">
              <a:rPr lang="en-IN"/>
              <a:pPr>
                <a:defRPr/>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5"/>
          <p:cNvSpPr>
            <a:spLocks noGrp="1" noChangeArrowheads="1"/>
          </p:cNvSpPr>
          <p:nvPr>
            <p:ph type="dt" idx="10"/>
          </p:nvPr>
        </p:nvSpPr>
        <p:spPr>
          <a:ln/>
        </p:spPr>
        <p:txBody>
          <a:bodyPr/>
          <a:lstStyle>
            <a:lvl1pPr>
              <a:defRPr/>
            </a:lvl1pPr>
          </a:lstStyle>
          <a:p>
            <a:pPr>
              <a:defRPr/>
            </a:pPr>
            <a:endParaRPr lang="en-IN"/>
          </a:p>
        </p:txBody>
      </p:sp>
      <p:sp>
        <p:nvSpPr>
          <p:cNvPr id="5" name="Rectangle 7"/>
          <p:cNvSpPr>
            <a:spLocks noGrp="1" noChangeArrowheads="1"/>
          </p:cNvSpPr>
          <p:nvPr>
            <p:ph type="sldNum" idx="11"/>
          </p:nvPr>
        </p:nvSpPr>
        <p:spPr>
          <a:ln/>
        </p:spPr>
        <p:txBody>
          <a:bodyPr/>
          <a:lstStyle>
            <a:lvl1pPr>
              <a:defRPr/>
            </a:lvl1pPr>
          </a:lstStyle>
          <a:p>
            <a:pPr>
              <a:defRPr/>
            </a:pPr>
            <a:fld id="{6901F827-C0E0-4895-B576-C4985C124385}" type="slidenum">
              <a:rPr lang="en-IN"/>
              <a:pPr>
                <a:defRPr/>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0325"/>
            <a:ext cx="1941513" cy="595788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914400" y="60325"/>
            <a:ext cx="5676900" cy="5957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5"/>
          <p:cNvSpPr>
            <a:spLocks noGrp="1" noChangeArrowheads="1"/>
          </p:cNvSpPr>
          <p:nvPr>
            <p:ph type="dt" idx="10"/>
          </p:nvPr>
        </p:nvSpPr>
        <p:spPr>
          <a:ln/>
        </p:spPr>
        <p:txBody>
          <a:bodyPr/>
          <a:lstStyle>
            <a:lvl1pPr>
              <a:defRPr/>
            </a:lvl1pPr>
          </a:lstStyle>
          <a:p>
            <a:pPr>
              <a:defRPr/>
            </a:pPr>
            <a:endParaRPr lang="en-IN"/>
          </a:p>
        </p:txBody>
      </p:sp>
      <p:sp>
        <p:nvSpPr>
          <p:cNvPr id="5" name="Rectangle 7"/>
          <p:cNvSpPr>
            <a:spLocks noGrp="1" noChangeArrowheads="1"/>
          </p:cNvSpPr>
          <p:nvPr>
            <p:ph type="sldNum" idx="11"/>
          </p:nvPr>
        </p:nvSpPr>
        <p:spPr>
          <a:ln/>
        </p:spPr>
        <p:txBody>
          <a:bodyPr/>
          <a:lstStyle>
            <a:lvl1pPr>
              <a:defRPr/>
            </a:lvl1pPr>
          </a:lstStyle>
          <a:p>
            <a:pPr>
              <a:defRPr/>
            </a:pPr>
            <a:fld id="{0D3303A0-ADDC-474E-A4D2-45D335251725}" type="slidenum">
              <a:rPr lang="en-IN"/>
              <a:pPr>
                <a:defRPr/>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ChangeArrowheads="1"/>
          </p:cNvSpPr>
          <p:nvPr/>
        </p:nvSpPr>
        <p:spPr bwMode="auto">
          <a:xfrm>
            <a:off x="0" y="0"/>
            <a:ext cx="9144000" cy="6858000"/>
          </a:xfrm>
          <a:prstGeom prst="rect">
            <a:avLst/>
          </a:prstGeom>
          <a:solidFill>
            <a:srgbClr val="FFFFFF"/>
          </a:solidFill>
          <a:ln w="9525">
            <a:noFill/>
            <a:round/>
            <a:headEnd/>
            <a:tailEnd/>
          </a:ln>
        </p:spPr>
        <p:txBody>
          <a:bodyPr wrap="none" anchor="ctr"/>
          <a:lstStyle/>
          <a:p>
            <a:pPr>
              <a:defRPr/>
            </a:pPr>
            <a:endParaRPr lang="en-IN">
              <a:cs typeface="Arial" charset="0"/>
            </a:endParaRPr>
          </a:p>
        </p:txBody>
      </p:sp>
      <p:sp>
        <p:nvSpPr>
          <p:cNvPr id="1027" name="AutoShape 2"/>
          <p:cNvSpPr>
            <a:spLocks noChangeArrowheads="1"/>
          </p:cNvSpPr>
          <p:nvPr/>
        </p:nvSpPr>
        <p:spPr bwMode="auto">
          <a:xfrm>
            <a:off x="63500" y="69850"/>
            <a:ext cx="9013825" cy="6692900"/>
          </a:xfrm>
          <a:prstGeom prst="roundRect">
            <a:avLst>
              <a:gd name="adj" fmla="val 4931"/>
            </a:avLst>
          </a:prstGeom>
          <a:noFill/>
          <a:ln w="6480">
            <a:solidFill>
              <a:srgbClr val="000000"/>
            </a:solidFill>
            <a:miter lim="800000"/>
            <a:headEnd/>
            <a:tailEnd/>
          </a:ln>
        </p:spPr>
        <p:txBody>
          <a:bodyPr wrap="none" anchor="ctr"/>
          <a:lstStyle/>
          <a:p>
            <a:pPr>
              <a:defRPr/>
            </a:pPr>
            <a:endParaRPr lang="en-IN">
              <a:cs typeface="Arial" charset="0"/>
            </a:endParaRPr>
          </a:p>
        </p:txBody>
      </p:sp>
      <p:sp>
        <p:nvSpPr>
          <p:cNvPr id="1028" name="Rectangle 3"/>
          <p:cNvSpPr>
            <a:spLocks noGrp="1" noChangeArrowheads="1"/>
          </p:cNvSpPr>
          <p:nvPr>
            <p:ph type="title"/>
          </p:nvPr>
        </p:nvSpPr>
        <p:spPr bwMode="auto">
          <a:xfrm>
            <a:off x="914400" y="60325"/>
            <a:ext cx="7770813" cy="1355725"/>
          </a:xfrm>
          <a:prstGeom prst="rect">
            <a:avLst/>
          </a:prstGeom>
          <a:noFill/>
          <a:ln w="9525">
            <a:noFill/>
            <a:round/>
            <a:headEnd/>
            <a:tailEnd/>
          </a:ln>
        </p:spPr>
        <p:txBody>
          <a:bodyPr vert="horz" wrap="square" lIns="90000" tIns="46800" rIns="90000" bIns="91440" numCol="1" anchor="b" anchorCtr="0" compatLnSpc="1">
            <a:prstTxWarp prst="textNoShape">
              <a:avLst/>
            </a:prstTxWarp>
          </a:bodyPr>
          <a:lstStyle/>
          <a:p>
            <a:pPr lvl="0"/>
            <a:r>
              <a:rPr lang="en-GB"/>
              <a:t>Click to edit the title text format</a:t>
            </a:r>
          </a:p>
        </p:txBody>
      </p:sp>
      <p:sp>
        <p:nvSpPr>
          <p:cNvPr id="1029" name="Rectangle 4"/>
          <p:cNvSpPr>
            <a:spLocks noGrp="1" noChangeArrowheads="1"/>
          </p:cNvSpPr>
          <p:nvPr>
            <p:ph type="body" idx="1"/>
          </p:nvPr>
        </p:nvSpPr>
        <p:spPr bwMode="auto">
          <a:xfrm>
            <a:off x="914400" y="1447800"/>
            <a:ext cx="7770813" cy="4570413"/>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p:txBody>
      </p:sp>
      <p:sp>
        <p:nvSpPr>
          <p:cNvPr id="2" name="Rectangle 5"/>
          <p:cNvSpPr>
            <a:spLocks noGrp="1" noChangeArrowheads="1"/>
          </p:cNvSpPr>
          <p:nvPr>
            <p:ph type="dt"/>
          </p:nvPr>
        </p:nvSpPr>
        <p:spPr bwMode="auto">
          <a:xfrm>
            <a:off x="6172200" y="6191250"/>
            <a:ext cx="2474913" cy="474663"/>
          </a:xfrm>
          <a:prstGeom prst="rect">
            <a:avLst/>
          </a:prstGeom>
          <a:noFill/>
          <a:ln w="9525">
            <a:noFill/>
            <a:round/>
            <a:headEnd/>
            <a:tailEnd/>
          </a:ln>
          <a:effectLst/>
        </p:spPr>
        <p:txBody>
          <a:bodyPr vert="horz" wrap="square" lIns="0" tIns="0" rIns="0" bIns="0" numCol="1" anchor="ctr" anchorCtr="1"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ea typeface="+mn-ea"/>
                <a:cs typeface="Arial" charset="0"/>
              </a:defRPr>
            </a:lvl1pPr>
          </a:lstStyle>
          <a:p>
            <a:pPr>
              <a:defRPr/>
            </a:pPr>
            <a:endParaRPr lang="en-IN"/>
          </a:p>
        </p:txBody>
      </p:sp>
      <p:sp>
        <p:nvSpPr>
          <p:cNvPr id="1031" name="Text Box 6"/>
          <p:cNvSpPr txBox="1">
            <a:spLocks noChangeArrowheads="1"/>
          </p:cNvSpPr>
          <p:nvPr/>
        </p:nvSpPr>
        <p:spPr bwMode="auto">
          <a:xfrm>
            <a:off x="914400" y="6172200"/>
            <a:ext cx="3962400" cy="457200"/>
          </a:xfrm>
          <a:prstGeom prst="rect">
            <a:avLst/>
          </a:prstGeom>
          <a:noFill/>
          <a:ln w="9525">
            <a:noFill/>
            <a:round/>
            <a:headEnd/>
            <a:tailEnd/>
          </a:ln>
        </p:spPr>
        <p:txBody>
          <a:bodyPr wrap="none" anchor="ctr"/>
          <a:lstStyle/>
          <a:p>
            <a:pPr>
              <a:defRPr/>
            </a:pPr>
            <a:endParaRPr lang="en-IN">
              <a:cs typeface="Arial" charset="0"/>
            </a:endParaRPr>
          </a:p>
        </p:txBody>
      </p:sp>
      <p:sp>
        <p:nvSpPr>
          <p:cNvPr id="3" name="Rectangle 7"/>
          <p:cNvSpPr>
            <a:spLocks noGrp="1" noChangeArrowheads="1"/>
          </p:cNvSpPr>
          <p:nvPr>
            <p:ph type="sldNum"/>
          </p:nvPr>
        </p:nvSpPr>
        <p:spPr bwMode="auto">
          <a:xfrm>
            <a:off x="212725" y="6276975"/>
            <a:ext cx="322263" cy="322263"/>
          </a:xfrm>
          <a:prstGeom prst="rect">
            <a:avLst/>
          </a:prstGeom>
          <a:solidFill>
            <a:srgbClr val="D34817"/>
          </a:solidFill>
          <a:ln w="9525">
            <a:noFill/>
            <a:round/>
            <a:headEnd/>
            <a:tailEnd/>
          </a:ln>
          <a:effectLst/>
        </p:spPr>
        <p:txBody>
          <a:bodyPr vert="horz" wrap="square" lIns="0" tIns="0" rIns="0" bIns="0" numCol="1" anchor="ctr" anchorCtr="1"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ea typeface="+mn-ea"/>
                <a:cs typeface="Arial" charset="0"/>
              </a:defRPr>
            </a:lvl1pPr>
          </a:lstStyle>
          <a:p>
            <a:pPr>
              <a:defRPr/>
            </a:pPr>
            <a:fld id="{8F9502FC-9999-43D2-A92E-1D67694DF679}"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2pPr>
      <a:lvl3pPr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3pPr>
      <a:lvl4pPr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4pPr>
      <a:lvl5pPr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4000">
          <a:solidFill>
            <a:srgbClr val="696464"/>
          </a:solidFill>
          <a:latin typeface="Franklin Gothic Book" pitchFamily="32" charset="0"/>
          <a:ea typeface="WenQuanYi Micro Hei" charset="0"/>
          <a:cs typeface="WenQuanYi Micro Hei" charset="0"/>
        </a:defRPr>
      </a:lvl9pPr>
    </p:titleStyle>
    <p:bodyStyle>
      <a:lvl1pPr marL="342900" indent="-342900" algn="l" defTabSz="449263" rtl="0" eaLnBrk="0" fontAlgn="base" hangingPunct="0">
        <a:spcBef>
          <a:spcPts val="575"/>
        </a:spcBef>
        <a:spcAft>
          <a:spcPct val="0"/>
        </a:spcAft>
        <a:buClr>
          <a:srgbClr val="000000"/>
        </a:buClr>
        <a:buSzPct val="100000"/>
        <a:buFont typeface="Times New Roman" pitchFamily="16" charset="0"/>
        <a:buChar char="•"/>
        <a:defRPr sz="2600">
          <a:solidFill>
            <a:srgbClr val="000000"/>
          </a:solidFill>
          <a:latin typeface="+mn-lt"/>
          <a:ea typeface="+mn-ea"/>
          <a:cs typeface="+mn-cs"/>
        </a:defRPr>
      </a:lvl1pPr>
      <a:lvl2pPr marL="742950" indent="-285750" algn="l" defTabSz="449263" rtl="0" eaLnBrk="0" fontAlgn="base" hangingPunct="0">
        <a:spcBef>
          <a:spcPts val="375"/>
        </a:spcBef>
        <a:spcAft>
          <a:spcPct val="0"/>
        </a:spcAft>
        <a:buClr>
          <a:srgbClr val="000000"/>
        </a:buClr>
        <a:buSzPct val="100000"/>
        <a:buFont typeface="Times New Roman" pitchFamily="16" charset="0"/>
        <a:buChar char="–"/>
        <a:defRPr sz="2400">
          <a:solidFill>
            <a:srgbClr val="000000"/>
          </a:solidFill>
          <a:latin typeface="+mn-lt"/>
          <a:ea typeface="+mn-ea"/>
          <a:cs typeface="+mn-cs"/>
        </a:defRPr>
      </a:lvl2pPr>
      <a:lvl3pPr marL="1143000" indent="-228600" algn="l" defTabSz="449263" rtl="0" eaLnBrk="0" fontAlgn="base" hangingPunct="0">
        <a:spcBef>
          <a:spcPts val="375"/>
        </a:spcBef>
        <a:spcAft>
          <a:spcPct val="0"/>
        </a:spcAft>
        <a:buClr>
          <a:srgbClr val="000000"/>
        </a:buClr>
        <a:buSzPct val="100000"/>
        <a:buFont typeface="Times New Roman" pitchFamily="16" charset="0"/>
        <a:buChar char="•"/>
        <a:defRPr sz="2000">
          <a:solidFill>
            <a:srgbClr val="000000"/>
          </a:solidFill>
          <a:latin typeface="+mn-lt"/>
          <a:ea typeface="+mn-ea"/>
          <a:cs typeface="+mn-cs"/>
        </a:defRPr>
      </a:lvl3pPr>
      <a:lvl4pPr marL="1600200" indent="-228600" algn="l" defTabSz="449263" rtl="0" eaLnBrk="0" fontAlgn="base" hangingPunct="0">
        <a:spcBef>
          <a:spcPts val="375"/>
        </a:spcBef>
        <a:spcAft>
          <a:spcPct val="0"/>
        </a:spcAft>
        <a:buClr>
          <a:srgbClr val="000000"/>
        </a:buClr>
        <a:buSzPct val="100000"/>
        <a:buFont typeface="Times New Roman" pitchFamily="16" charset="0"/>
        <a:buChar char="–"/>
        <a:defRPr sz="2000">
          <a:solidFill>
            <a:srgbClr val="000000"/>
          </a:solidFill>
          <a:latin typeface="+mn-lt"/>
          <a:ea typeface="+mn-ea"/>
          <a:cs typeface="+mn-cs"/>
        </a:defRPr>
      </a:lvl4pPr>
      <a:lvl5pPr marL="2057400" indent="-228600" algn="l" defTabSz="449263" rtl="0" eaLnBrk="0" fontAlgn="base" hangingPunct="0">
        <a:spcBef>
          <a:spcPts val="375"/>
        </a:spcBef>
        <a:spcAft>
          <a:spcPct val="0"/>
        </a:spcAft>
        <a:buClr>
          <a:srgbClr val="000000"/>
        </a:buClr>
        <a:buSzPct val="100000"/>
        <a:buFont typeface="Times New Roman" pitchFamily="16" charset="0"/>
        <a:buChar char="»"/>
        <a:defRPr sz="2000">
          <a:solidFill>
            <a:srgbClr val="000000"/>
          </a:solidFill>
          <a:latin typeface="+mn-lt"/>
          <a:ea typeface="+mn-ea"/>
          <a:cs typeface="+mn-cs"/>
        </a:defRPr>
      </a:lvl5pPr>
      <a:lvl6pPr marL="2514600" indent="-228600" algn="l" defTabSz="449263" rtl="0" eaLnBrk="0" fontAlgn="base" hangingPunct="0">
        <a:spcBef>
          <a:spcPts val="375"/>
        </a:spcBef>
        <a:spcAft>
          <a:spcPct val="0"/>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eaLnBrk="0" fontAlgn="base" hangingPunct="0">
        <a:spcBef>
          <a:spcPts val="375"/>
        </a:spcBef>
        <a:spcAft>
          <a:spcPct val="0"/>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eaLnBrk="0" fontAlgn="base" hangingPunct="0">
        <a:spcBef>
          <a:spcPts val="375"/>
        </a:spcBef>
        <a:spcAft>
          <a:spcPct val="0"/>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eaLnBrk="0" fontAlgn="base" hangingPunct="0">
        <a:spcBef>
          <a:spcPts val="375"/>
        </a:spcBef>
        <a:spcAft>
          <a:spcPct val="0"/>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Rectangle 1"/>
          <p:cNvSpPr>
            <a:spLocks noChangeArrowheads="1"/>
          </p:cNvSpPr>
          <p:nvPr/>
        </p:nvSpPr>
        <p:spPr bwMode="auto">
          <a:xfrm>
            <a:off x="1500188" y="4071938"/>
            <a:ext cx="6172200" cy="709612"/>
          </a:xfrm>
          <a:prstGeom prst="rect">
            <a:avLst/>
          </a:prstGeom>
          <a:noFill/>
          <a:ln w="9525">
            <a:noFill/>
            <a:round/>
            <a:headEnd/>
            <a:tailEnd/>
          </a:ln>
          <a:effectLst/>
        </p:spPr>
        <p:txBody>
          <a:bodyPr lIns="90000" tIns="46800" rIns="90000" bIns="46800">
            <a:spAutoFit/>
          </a:bodyPr>
          <a:lstStyle/>
          <a:p>
            <a:pPr marL="342900" indent="-341313" algn="ctr">
              <a:buClrTx/>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pPr>
            <a:endParaRPr lang="en-IN" sz="2000" b="1" dirty="0">
              <a:solidFill>
                <a:srgbClr val="000000"/>
              </a:solidFill>
              <a:effectLst>
                <a:outerShdw blurRad="38100" dist="38100" dir="2700000" algn="tl">
                  <a:srgbClr val="C0C0C0"/>
                </a:outerShdw>
              </a:effectLst>
              <a:latin typeface="Times New Roman" pitchFamily="16" charset="0"/>
              <a:ea typeface="+mn-ea"/>
              <a:cs typeface="Arial" charset="0"/>
            </a:endParaRPr>
          </a:p>
          <a:p>
            <a:pPr marL="342900" indent="-341313" algn="ctr">
              <a:buClrTx/>
              <a:buFontTx/>
              <a:buNone/>
              <a:tabLst>
                <a:tab pos="342900" algn="l"/>
                <a:tab pos="1257300" algn="l"/>
                <a:tab pos="2171700" algn="l"/>
                <a:tab pos="3086100" algn="l"/>
                <a:tab pos="4000500" algn="l"/>
                <a:tab pos="4914900" algn="l"/>
                <a:tab pos="5829300" algn="l"/>
                <a:tab pos="6743700" algn="l"/>
                <a:tab pos="7658100" algn="l"/>
                <a:tab pos="8572500" algn="l"/>
                <a:tab pos="9486900" algn="l"/>
                <a:tab pos="10401300" algn="l"/>
              </a:tabLst>
              <a:defRPr/>
            </a:pPr>
            <a:endParaRPr lang="en-IN" sz="2000" b="1" dirty="0">
              <a:solidFill>
                <a:srgbClr val="000000"/>
              </a:solidFill>
              <a:effectLst>
                <a:outerShdw blurRad="38100" dist="38100" dir="2700000" algn="tl">
                  <a:srgbClr val="C0C0C0"/>
                </a:outerShdw>
              </a:effectLst>
              <a:latin typeface="Times New Roman" pitchFamily="16" charset="0"/>
              <a:ea typeface="+mn-ea"/>
              <a:cs typeface="Arial" charset="0"/>
            </a:endParaRPr>
          </a:p>
        </p:txBody>
      </p:sp>
      <p:sp>
        <p:nvSpPr>
          <p:cNvPr id="2051" name="Rectangle 2"/>
          <p:cNvSpPr>
            <a:spLocks noChangeArrowheads="1"/>
          </p:cNvSpPr>
          <p:nvPr/>
        </p:nvSpPr>
        <p:spPr bwMode="auto">
          <a:xfrm>
            <a:off x="6000760" y="4857760"/>
            <a:ext cx="2514600" cy="1510286"/>
          </a:xfrm>
          <a:prstGeom prst="rect">
            <a:avLst/>
          </a:prstGeom>
          <a:noFill/>
          <a:ln w="9525">
            <a:noFill/>
            <a:round/>
            <a:headEnd/>
            <a:tailEnd/>
          </a:ln>
        </p:spPr>
        <p:txBody>
          <a:bodyPr lIns="90000" tIns="46800" rIns="90000" bIns="46800">
            <a:spAutoFit/>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b="1" dirty="0">
                <a:solidFill>
                  <a:srgbClr val="000000"/>
                </a:solidFill>
                <a:latin typeface="Times New Roman" pitchFamily="16" charset="0"/>
                <a:cs typeface="Times New Roman" pitchFamily="16" charset="0"/>
              </a:rPr>
              <a:t>Presented by:</a:t>
            </a:r>
          </a:p>
          <a:p>
            <a:pPr marL="342900" indent="-342900">
              <a:buClrTx/>
              <a:buFontTx/>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b="1" dirty="0">
                <a:solidFill>
                  <a:srgbClr val="000000"/>
                </a:solidFill>
                <a:latin typeface="Times New Roman" pitchFamily="16" charset="0"/>
                <a:cs typeface="Times New Roman" pitchFamily="16" charset="0"/>
              </a:rPr>
              <a:t>Gaikwad Rohit</a:t>
            </a:r>
          </a:p>
          <a:p>
            <a:pPr marL="342900" indent="-342900">
              <a:buClrTx/>
              <a:buFontTx/>
              <a:buAutoNum type="arabicPeriod"/>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b="1" dirty="0">
                <a:solidFill>
                  <a:srgbClr val="000000"/>
                </a:solidFill>
                <a:latin typeface="Times New Roman" pitchFamily="16" charset="0"/>
                <a:cs typeface="Times New Roman" pitchFamily="16" charset="0"/>
              </a:rPr>
              <a:t>Bagul Ashish</a:t>
            </a:r>
          </a:p>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b="1" dirty="0">
                <a:solidFill>
                  <a:srgbClr val="000000"/>
                </a:solidFill>
                <a:latin typeface="Times New Roman" pitchFamily="16" charset="0"/>
                <a:cs typeface="Times New Roman" pitchFamily="16" charset="0"/>
              </a:rPr>
              <a:t>3.   Maharshi </a:t>
            </a:r>
            <a:r>
              <a:rPr lang="en-IN" b="1" dirty="0" err="1">
                <a:solidFill>
                  <a:srgbClr val="000000"/>
                </a:solidFill>
                <a:latin typeface="Times New Roman" pitchFamily="16" charset="0"/>
                <a:cs typeface="Times New Roman" pitchFamily="16" charset="0"/>
              </a:rPr>
              <a:t>Yadnesh</a:t>
            </a:r>
            <a:endParaRPr lang="en-IN" b="1" dirty="0">
              <a:solidFill>
                <a:srgbClr val="000000"/>
              </a:solidFill>
              <a:latin typeface="Times New Roman" pitchFamily="16" charset="0"/>
              <a:cs typeface="Times New Roman" pitchFamily="16" charset="0"/>
            </a:endParaRPr>
          </a:p>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000" b="1" dirty="0">
              <a:solidFill>
                <a:srgbClr val="000000"/>
              </a:solidFill>
              <a:latin typeface="Times New Roman" pitchFamily="16" charset="0"/>
              <a:cs typeface="Times New Roman" pitchFamily="16" charset="0"/>
            </a:endParaRPr>
          </a:p>
        </p:txBody>
      </p:sp>
      <p:sp>
        <p:nvSpPr>
          <p:cNvPr id="2052" name="Text Box 3"/>
          <p:cNvSpPr txBox="1">
            <a:spLocks noChangeArrowheads="1"/>
          </p:cNvSpPr>
          <p:nvPr/>
        </p:nvSpPr>
        <p:spPr bwMode="auto">
          <a:xfrm>
            <a:off x="1524000" y="1098550"/>
            <a:ext cx="6299200" cy="368300"/>
          </a:xfrm>
          <a:prstGeom prst="rect">
            <a:avLst/>
          </a:prstGeom>
          <a:noFill/>
          <a:ln w="9525">
            <a:noFill/>
            <a:round/>
            <a:headEnd/>
            <a:tailEnd/>
          </a:ln>
        </p:spPr>
        <p:txBody>
          <a:bodyPr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b="1">
                <a:solidFill>
                  <a:srgbClr val="000000"/>
                </a:solidFill>
                <a:latin typeface="Times New Roman" pitchFamily="16" charset="0"/>
              </a:rPr>
              <a:t>Department of Electronics &amp; Telecommunication Engineering</a:t>
            </a:r>
          </a:p>
        </p:txBody>
      </p:sp>
      <p:sp>
        <p:nvSpPr>
          <p:cNvPr id="2053" name="Text Box 4"/>
          <p:cNvSpPr txBox="1">
            <a:spLocks noChangeArrowheads="1"/>
          </p:cNvSpPr>
          <p:nvPr/>
        </p:nvSpPr>
        <p:spPr bwMode="auto">
          <a:xfrm>
            <a:off x="419100" y="323850"/>
            <a:ext cx="8458200" cy="601663"/>
          </a:xfrm>
          <a:prstGeom prst="rect">
            <a:avLst/>
          </a:prstGeom>
          <a:noFill/>
          <a:ln w="9525">
            <a:noFill/>
            <a:round/>
            <a:headEnd/>
            <a:tailEnd/>
          </a:ln>
        </p:spPr>
        <p:txBody>
          <a:bodyPr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a:solidFill>
                  <a:srgbClr val="000000"/>
                </a:solidFill>
                <a:latin typeface="Times New Roman" pitchFamily="16" charset="0"/>
              </a:rPr>
              <a:t>Gokhale Education Society’s</a:t>
            </a:r>
          </a:p>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1">
                <a:solidFill>
                  <a:srgbClr val="000000"/>
                </a:solidFill>
                <a:latin typeface="Times New Roman" pitchFamily="16" charset="0"/>
              </a:rPr>
              <a:t>R.H. Sapat College of Engineering, Management Studies &amp; Research</a:t>
            </a:r>
          </a:p>
        </p:txBody>
      </p:sp>
      <p:sp>
        <p:nvSpPr>
          <p:cNvPr id="2054" name="Text Box 6"/>
          <p:cNvSpPr txBox="1">
            <a:spLocks noChangeArrowheads="1"/>
          </p:cNvSpPr>
          <p:nvPr/>
        </p:nvSpPr>
        <p:spPr bwMode="auto">
          <a:xfrm>
            <a:off x="1331913" y="3505200"/>
            <a:ext cx="6840537" cy="1479509"/>
          </a:xfrm>
          <a:prstGeom prst="rect">
            <a:avLst/>
          </a:prstGeom>
          <a:noFill/>
          <a:ln w="9525">
            <a:noFill/>
            <a:round/>
            <a:headEnd/>
            <a:tailEnd/>
          </a:ln>
        </p:spPr>
        <p:txBody>
          <a:bodyPr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400" dirty="0">
                <a:solidFill>
                  <a:srgbClr val="000000"/>
                </a:solidFill>
                <a:latin typeface="Times New Roman" panose="02020603050405020304" pitchFamily="18" charset="0"/>
                <a:cs typeface="Times New Roman" panose="02020603050405020304" pitchFamily="18" charset="0"/>
              </a:rPr>
              <a:t>Seminar on Mini Project</a:t>
            </a:r>
          </a:p>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400" dirty="0">
                <a:solidFill>
                  <a:srgbClr val="000000"/>
                </a:solidFill>
                <a:latin typeface="Times New Roman" panose="02020603050405020304" pitchFamily="18" charset="0"/>
                <a:cs typeface="Times New Roman" panose="02020603050405020304" pitchFamily="18" charset="0"/>
              </a:rPr>
              <a:t>T. E. E&amp;TC</a:t>
            </a:r>
          </a:p>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400" b="1" dirty="0">
                <a:solidFill>
                  <a:srgbClr val="000000"/>
                </a:solidFill>
                <a:latin typeface="Times New Roman" panose="02020603050405020304" pitchFamily="18" charset="0"/>
                <a:cs typeface="Times New Roman" panose="02020603050405020304" pitchFamily="18" charset="0"/>
              </a:rPr>
              <a:t>Face Mask Detector</a:t>
            </a:r>
          </a:p>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dirty="0">
              <a:solidFill>
                <a:srgbClr val="000000"/>
              </a:solidFill>
            </a:endParaRPr>
          </a:p>
        </p:txBody>
      </p:sp>
      <p:sp>
        <p:nvSpPr>
          <p:cNvPr id="2055" name="Rectangle 7"/>
          <p:cNvSpPr>
            <a:spLocks noChangeArrowheads="1"/>
          </p:cNvSpPr>
          <p:nvPr/>
        </p:nvSpPr>
        <p:spPr bwMode="auto">
          <a:xfrm>
            <a:off x="611188" y="5272088"/>
            <a:ext cx="3097212" cy="648512"/>
          </a:xfrm>
          <a:prstGeom prst="rect">
            <a:avLst/>
          </a:prstGeom>
          <a:noFill/>
          <a:ln w="9525">
            <a:noFill/>
            <a:round/>
            <a:headEnd/>
            <a:tailEnd/>
          </a:ln>
        </p:spPr>
        <p:txBody>
          <a:bodyPr lIns="90000" tIns="46800" rIns="90000" bIns="46800">
            <a:spAutoFit/>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b="1" dirty="0">
                <a:solidFill>
                  <a:srgbClr val="000000"/>
                </a:solidFill>
                <a:latin typeface="Times New Roman" pitchFamily="16" charset="0"/>
                <a:cs typeface="Times New Roman" pitchFamily="16" charset="0"/>
              </a:rPr>
              <a:t>Under the guidance of</a:t>
            </a:r>
          </a:p>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b="1" dirty="0">
                <a:solidFill>
                  <a:srgbClr val="000000"/>
                </a:solidFill>
                <a:latin typeface="Times New Roman" pitchFamily="16" charset="0"/>
                <a:cs typeface="Times New Roman" pitchFamily="16" charset="0"/>
              </a:rPr>
              <a:t>Prof. P. D. </a:t>
            </a:r>
            <a:r>
              <a:rPr lang="en-IN" b="1" dirty="0" err="1">
                <a:solidFill>
                  <a:srgbClr val="000000"/>
                </a:solidFill>
                <a:latin typeface="Times New Roman" pitchFamily="16" charset="0"/>
                <a:cs typeface="Times New Roman" pitchFamily="16" charset="0"/>
              </a:rPr>
              <a:t>Lokhande</a:t>
            </a:r>
            <a:endParaRPr lang="en-IN" b="1" dirty="0">
              <a:solidFill>
                <a:srgbClr val="000000"/>
              </a:solidFill>
              <a:latin typeface="Times New Roman" pitchFamily="16" charset="0"/>
              <a:cs typeface="Times New Roman" pitchFamily="16" charset="0"/>
            </a:endParaRPr>
          </a:p>
        </p:txBody>
      </p:sp>
      <p:pic>
        <p:nvPicPr>
          <p:cNvPr id="2056" name="Picture 8" descr="College logo..jpg"/>
          <p:cNvPicPr>
            <a:picLocks noChangeAspect="1" noChangeArrowheads="1"/>
          </p:cNvPicPr>
          <p:nvPr/>
        </p:nvPicPr>
        <p:blipFill>
          <a:blip r:embed="rId3"/>
          <a:srcRect/>
          <a:stretch>
            <a:fillRect/>
          </a:stretch>
        </p:blipFill>
        <p:spPr bwMode="auto">
          <a:xfrm>
            <a:off x="3419475" y="1773238"/>
            <a:ext cx="2273300" cy="1439862"/>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2"/>
          <p:cNvSpPr txBox="1">
            <a:spLocks noChangeArrowheads="1"/>
          </p:cNvSpPr>
          <p:nvPr/>
        </p:nvSpPr>
        <p:spPr bwMode="auto">
          <a:xfrm>
            <a:off x="971600" y="332656"/>
            <a:ext cx="6845300" cy="708025"/>
          </a:xfrm>
          <a:prstGeom prst="rect">
            <a:avLst/>
          </a:prstGeom>
          <a:noFill/>
          <a:ln w="9525">
            <a:noFill/>
            <a:miter lim="800000"/>
            <a:headEnd/>
            <a:tailEnd/>
          </a:ln>
        </p:spPr>
        <p:txBody>
          <a:bodyPr>
            <a:spAutoFit/>
          </a:bodyPr>
          <a:lstStyle/>
          <a:p>
            <a:r>
              <a:rPr lang="en-US" sz="4000" dirty="0">
                <a:solidFill>
                  <a:schemeClr val="tx1"/>
                </a:solidFill>
                <a:latin typeface="Times New Roman" pitchFamily="16" charset="0"/>
                <a:cs typeface="Times New Roman" pitchFamily="16" charset="0"/>
              </a:rPr>
              <a:t>C</a:t>
            </a:r>
            <a:r>
              <a:rPr lang="en-IN" sz="4000" dirty="0" err="1">
                <a:solidFill>
                  <a:schemeClr val="tx1"/>
                </a:solidFill>
                <a:latin typeface="Times New Roman" pitchFamily="16" charset="0"/>
                <a:cs typeface="Times New Roman" pitchFamily="16" charset="0"/>
              </a:rPr>
              <a:t>ontents</a:t>
            </a:r>
            <a:r>
              <a:rPr lang="en-IN" sz="4000" dirty="0">
                <a:solidFill>
                  <a:schemeClr val="tx1"/>
                </a:solidFill>
                <a:latin typeface="Times New Roman" pitchFamily="16" charset="0"/>
                <a:cs typeface="Times New Roman" pitchFamily="16" charset="0"/>
              </a:rPr>
              <a:t>:</a:t>
            </a:r>
          </a:p>
        </p:txBody>
      </p:sp>
      <p:sp>
        <p:nvSpPr>
          <p:cNvPr id="3075" name="TextBox 1"/>
          <p:cNvSpPr txBox="1">
            <a:spLocks noChangeArrowheads="1"/>
          </p:cNvSpPr>
          <p:nvPr/>
        </p:nvSpPr>
        <p:spPr bwMode="auto">
          <a:xfrm>
            <a:off x="1115616" y="1340768"/>
            <a:ext cx="4360489" cy="6186309"/>
          </a:xfrm>
          <a:prstGeom prst="rect">
            <a:avLst/>
          </a:prstGeom>
          <a:noFill/>
          <a:ln w="9525">
            <a:noFill/>
            <a:miter lim="800000"/>
            <a:headEnd/>
            <a:tailEnd/>
          </a:ln>
        </p:spPr>
        <p:txBody>
          <a:bodyPr wrap="none">
            <a:spAutoFit/>
          </a:bodyPr>
          <a:lstStyle/>
          <a:p>
            <a:pPr marL="457200" indent="-457200">
              <a:buFont typeface="+mj-lt"/>
              <a:buAutoNum type="arabicPeriod"/>
            </a:pPr>
            <a:r>
              <a:rPr lang="en-US" sz="2000" dirty="0">
                <a:solidFill>
                  <a:schemeClr val="tx1"/>
                </a:solidFill>
                <a:latin typeface="Times New Roman" pitchFamily="16" charset="0"/>
                <a:cs typeface="Times New Roman" pitchFamily="16" charset="0"/>
              </a:rPr>
              <a:t>Introduction</a:t>
            </a:r>
          </a:p>
          <a:p>
            <a:pPr marL="457200" indent="-457200">
              <a:buFont typeface="+mj-lt"/>
              <a:buAutoNum type="arabicPeriod"/>
            </a:pPr>
            <a:r>
              <a:rPr lang="en-US" sz="2000" dirty="0">
                <a:solidFill>
                  <a:schemeClr val="tx1"/>
                </a:solidFill>
                <a:latin typeface="Times New Roman" pitchFamily="16" charset="0"/>
                <a:cs typeface="Times New Roman" pitchFamily="16" charset="0"/>
              </a:rPr>
              <a:t>Literature Survey/Review</a:t>
            </a:r>
          </a:p>
          <a:p>
            <a:pPr marL="457200" indent="-457200">
              <a:buFont typeface="+mj-lt"/>
              <a:buAutoNum type="arabicPeriod"/>
            </a:pPr>
            <a:r>
              <a:rPr lang="en-US" sz="2000" dirty="0">
                <a:solidFill>
                  <a:schemeClr val="tx1"/>
                </a:solidFill>
                <a:latin typeface="Times New Roman" pitchFamily="16" charset="0"/>
                <a:cs typeface="Times New Roman" pitchFamily="16" charset="0"/>
              </a:rPr>
              <a:t>Problem Statement</a:t>
            </a:r>
          </a:p>
          <a:p>
            <a:pPr marL="457200" indent="-457200">
              <a:buFont typeface="+mj-lt"/>
              <a:buAutoNum type="arabicPeriod"/>
            </a:pPr>
            <a:r>
              <a:rPr lang="en-US" sz="2000" dirty="0">
                <a:solidFill>
                  <a:schemeClr val="tx1"/>
                </a:solidFill>
                <a:latin typeface="Times New Roman" pitchFamily="16" charset="0"/>
                <a:cs typeface="Times New Roman" pitchFamily="16" charset="0"/>
              </a:rPr>
              <a:t>Objective  </a:t>
            </a:r>
          </a:p>
          <a:p>
            <a:pPr marL="457200" indent="-457200">
              <a:buFont typeface="+mj-lt"/>
              <a:buAutoNum type="arabicPeriod"/>
            </a:pPr>
            <a:r>
              <a:rPr lang="en-US" sz="2000" dirty="0">
                <a:solidFill>
                  <a:schemeClr val="tx1"/>
                </a:solidFill>
                <a:latin typeface="Times New Roman" pitchFamily="16" charset="0"/>
                <a:cs typeface="Times New Roman" pitchFamily="16" charset="0"/>
              </a:rPr>
              <a:t>Proposed System  and  its Overview</a:t>
            </a:r>
          </a:p>
          <a:p>
            <a:pPr marL="457200" indent="-457200">
              <a:buFont typeface="+mj-lt"/>
              <a:buAutoNum type="arabicPeriod"/>
            </a:pPr>
            <a:r>
              <a:rPr lang="en-US" sz="2000" dirty="0">
                <a:solidFill>
                  <a:schemeClr val="tx1"/>
                </a:solidFill>
                <a:latin typeface="Times New Roman" pitchFamily="16" charset="0"/>
                <a:cs typeface="Times New Roman" pitchFamily="16" charset="0"/>
              </a:rPr>
              <a:t>Hardware Requirement</a:t>
            </a:r>
          </a:p>
          <a:p>
            <a:pPr marL="457200" indent="-457200">
              <a:buFont typeface="+mj-lt"/>
              <a:buAutoNum type="arabicPeriod"/>
            </a:pPr>
            <a:r>
              <a:rPr lang="en-US" sz="2000" dirty="0">
                <a:solidFill>
                  <a:schemeClr val="tx1"/>
                </a:solidFill>
                <a:latin typeface="Times New Roman" pitchFamily="16" charset="0"/>
                <a:cs typeface="Times New Roman" pitchFamily="16" charset="0"/>
              </a:rPr>
              <a:t>Software Requirement</a:t>
            </a:r>
          </a:p>
          <a:p>
            <a:pPr marL="457200" indent="-457200">
              <a:buFont typeface="+mj-lt"/>
              <a:buAutoNum type="arabicPeriod"/>
            </a:pPr>
            <a:r>
              <a:rPr lang="en-US" sz="2000" dirty="0">
                <a:solidFill>
                  <a:schemeClr val="tx1"/>
                </a:solidFill>
                <a:latin typeface="Times New Roman" pitchFamily="16" charset="0"/>
                <a:cs typeface="Times New Roman" pitchFamily="16" charset="0"/>
              </a:rPr>
              <a:t>Block Diagram and Flowchart</a:t>
            </a:r>
          </a:p>
          <a:p>
            <a:pPr marL="457200" indent="-457200">
              <a:buFont typeface="+mj-lt"/>
              <a:buAutoNum type="arabicPeriod"/>
            </a:pPr>
            <a:r>
              <a:rPr lang="en-US" sz="2000" dirty="0">
                <a:solidFill>
                  <a:schemeClr val="tx1"/>
                </a:solidFill>
                <a:latin typeface="Times New Roman" pitchFamily="16" charset="0"/>
                <a:cs typeface="Times New Roman" pitchFamily="16" charset="0"/>
              </a:rPr>
              <a:t>Circuit Diagram</a:t>
            </a:r>
          </a:p>
          <a:p>
            <a:pPr marL="457200" indent="-457200">
              <a:buFont typeface="+mj-lt"/>
              <a:buAutoNum type="arabicPeriod"/>
            </a:pPr>
            <a:r>
              <a:rPr lang="en-US" sz="2000" dirty="0">
                <a:solidFill>
                  <a:schemeClr val="tx1"/>
                </a:solidFill>
                <a:latin typeface="Times New Roman" pitchFamily="16" charset="0"/>
                <a:cs typeface="Times New Roman" pitchFamily="16" charset="0"/>
              </a:rPr>
              <a:t>Applications</a:t>
            </a:r>
          </a:p>
          <a:p>
            <a:pPr marL="457200" indent="-457200">
              <a:buFont typeface="+mj-lt"/>
              <a:buAutoNum type="arabicPeriod"/>
            </a:pPr>
            <a:r>
              <a:rPr lang="en-US" sz="2000" dirty="0">
                <a:solidFill>
                  <a:schemeClr val="tx1"/>
                </a:solidFill>
                <a:latin typeface="Times New Roman" pitchFamily="16" charset="0"/>
                <a:cs typeface="Times New Roman" pitchFamily="16" charset="0"/>
              </a:rPr>
              <a:t>Cost Estimation</a:t>
            </a:r>
          </a:p>
          <a:p>
            <a:pPr marL="457200" indent="-457200">
              <a:buFont typeface="+mj-lt"/>
              <a:buAutoNum type="arabicPeriod"/>
            </a:pPr>
            <a:r>
              <a:rPr lang="en-US" sz="2000" dirty="0">
                <a:solidFill>
                  <a:schemeClr val="tx1"/>
                </a:solidFill>
                <a:latin typeface="Times New Roman" pitchFamily="16" charset="0"/>
                <a:cs typeface="Times New Roman" pitchFamily="16" charset="0"/>
              </a:rPr>
              <a:t>Advantages</a:t>
            </a:r>
          </a:p>
          <a:p>
            <a:pPr marL="457200" indent="-457200">
              <a:buFont typeface="+mj-lt"/>
              <a:buAutoNum type="arabicPeriod"/>
            </a:pPr>
            <a:r>
              <a:rPr lang="en-US" sz="2000" dirty="0">
                <a:solidFill>
                  <a:schemeClr val="tx1"/>
                </a:solidFill>
                <a:latin typeface="Times New Roman" pitchFamily="16" charset="0"/>
                <a:cs typeface="Times New Roman" pitchFamily="16" charset="0"/>
              </a:rPr>
              <a:t>Scope of Project</a:t>
            </a:r>
          </a:p>
          <a:p>
            <a:pPr marL="457200" indent="-457200">
              <a:buFont typeface="+mj-lt"/>
              <a:buAutoNum type="arabicPeriod"/>
            </a:pPr>
            <a:r>
              <a:rPr lang="en-US" sz="2000" dirty="0">
                <a:solidFill>
                  <a:schemeClr val="tx1"/>
                </a:solidFill>
                <a:latin typeface="Times New Roman" pitchFamily="16" charset="0"/>
                <a:cs typeface="Times New Roman" pitchFamily="16" charset="0"/>
              </a:rPr>
              <a:t>Conclusion</a:t>
            </a:r>
          </a:p>
          <a:p>
            <a:pPr marL="457200" indent="-457200">
              <a:buFont typeface="+mj-lt"/>
              <a:buAutoNum type="arabicPeriod"/>
            </a:pPr>
            <a:r>
              <a:rPr lang="en-US" sz="2000" dirty="0">
                <a:solidFill>
                  <a:schemeClr val="tx1"/>
                </a:solidFill>
                <a:latin typeface="Times New Roman" pitchFamily="16" charset="0"/>
                <a:cs typeface="Times New Roman" pitchFamily="16" charset="0"/>
              </a:rPr>
              <a:t>Reference</a:t>
            </a:r>
          </a:p>
          <a:p>
            <a:pPr marL="457200" indent="-457200">
              <a:buFont typeface="+mj-lt"/>
              <a:buAutoNum type="arabicPeriod"/>
            </a:pPr>
            <a:endParaRPr lang="en-US" sz="2400" dirty="0">
              <a:solidFill>
                <a:schemeClr val="tx1"/>
              </a:solidFill>
              <a:latin typeface="Times New Roman" pitchFamily="16" charset="0"/>
              <a:cs typeface="Times New Roman" pitchFamily="16" charset="0"/>
            </a:endParaRPr>
          </a:p>
          <a:p>
            <a:pPr marL="457200" indent="-457200">
              <a:buFont typeface="+mj-lt"/>
              <a:buAutoNum type="arabicPeriod"/>
            </a:pPr>
            <a:endParaRPr lang="en-US" sz="2400" dirty="0">
              <a:solidFill>
                <a:schemeClr val="tx1"/>
              </a:solidFill>
              <a:latin typeface="Times New Roman" pitchFamily="16" charset="0"/>
              <a:cs typeface="Times New Roman" pitchFamily="16" charset="0"/>
            </a:endParaRPr>
          </a:p>
          <a:p>
            <a:pPr marL="457200" indent="-457200">
              <a:buFont typeface="+mj-lt"/>
              <a:buAutoNum type="arabicPeriod"/>
            </a:pPr>
            <a:endParaRPr lang="en-US" sz="2400" dirty="0">
              <a:solidFill>
                <a:schemeClr val="tx1"/>
              </a:solidFill>
              <a:latin typeface="Times New Roman" pitchFamily="16" charset="0"/>
              <a:cs typeface="Times New Roman" pitchFamily="16" charset="0"/>
            </a:endParaRPr>
          </a:p>
          <a:p>
            <a:pPr marL="457200" indent="-457200">
              <a:buFont typeface="+mj-lt"/>
              <a:buAutoNum type="arabicPeriod"/>
            </a:pPr>
            <a:endParaRPr lang="en-US" sz="2400" dirty="0">
              <a:solidFill>
                <a:schemeClr val="tx1"/>
              </a:solidFill>
              <a:latin typeface="Times New Roman" pitchFamily="16" charset="0"/>
              <a:cs typeface="Times New Roman" pitchFamily="16" charset="0"/>
            </a:endParaRPr>
          </a:p>
        </p:txBody>
      </p:sp>
      <p:sp>
        <p:nvSpPr>
          <p:cNvPr id="4" name="TextBox 3">
            <a:extLst>
              <a:ext uri="{FF2B5EF4-FFF2-40B4-BE49-F238E27FC236}">
                <a16:creationId xmlns:a16="http://schemas.microsoft.com/office/drawing/2014/main" id="{D82C2880-9DC2-D19E-9F66-8C854D3F58DA}"/>
              </a:ext>
            </a:extLst>
          </p:cNvPr>
          <p:cNvSpPr txBox="1"/>
          <p:nvPr/>
        </p:nvSpPr>
        <p:spPr>
          <a:xfrm>
            <a:off x="467544" y="6381328"/>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TextBox 2"/>
          <p:cNvSpPr txBox="1">
            <a:spLocks noChangeArrowheads="1"/>
          </p:cNvSpPr>
          <p:nvPr/>
        </p:nvSpPr>
        <p:spPr bwMode="auto">
          <a:xfrm>
            <a:off x="899592" y="387731"/>
            <a:ext cx="6845300" cy="5632311"/>
          </a:xfrm>
          <a:prstGeom prst="rect">
            <a:avLst/>
          </a:prstGeom>
          <a:noFill/>
          <a:ln w="9525">
            <a:noFill/>
            <a:miter lim="800000"/>
            <a:headEnd/>
            <a:tailEnd/>
          </a:ln>
        </p:spPr>
        <p:txBody>
          <a:bodyPr>
            <a:spAutoFit/>
          </a:bodyPr>
          <a:lstStyle/>
          <a:p>
            <a:r>
              <a:rPr lang="en-IN" sz="4000" dirty="0">
                <a:solidFill>
                  <a:schemeClr val="tx1"/>
                </a:solidFill>
                <a:latin typeface="Times New Roman" pitchFamily="16" charset="0"/>
                <a:cs typeface="Times New Roman" pitchFamily="16" charset="0"/>
              </a:rPr>
              <a:t>Introduction:</a:t>
            </a:r>
          </a:p>
          <a:p>
            <a:pPr marL="342900" indent="-342900">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From the last two years, COVID-19 has spreading across the world. It is important to check whether everyone has wore a face mask or not in public places.</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To overcome such problem, we have designed a system ‘Face Mask Detector’ which is used to monitor without human intervention. </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With the use of deep learning, higher accuracies in face detection and face recognition can be acquired.</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IN" sz="2000" dirty="0">
                <a:solidFill>
                  <a:schemeClr val="tx1"/>
                </a:solidFill>
                <a:latin typeface="Times New Roman" pitchFamily="16" charset="0"/>
                <a:cs typeface="Times New Roman" pitchFamily="16" charset="0"/>
              </a:rPr>
              <a:t>This process is completely automatic and there is no need of any physical interaction. Therefore this surely saves time and human efforts . </a:t>
            </a:r>
          </a:p>
        </p:txBody>
      </p:sp>
      <p:sp>
        <p:nvSpPr>
          <p:cNvPr id="2" name="TextBox 1">
            <a:extLst>
              <a:ext uri="{FF2B5EF4-FFF2-40B4-BE49-F238E27FC236}">
                <a16:creationId xmlns:a16="http://schemas.microsoft.com/office/drawing/2014/main" id="{C6F68D0C-6ADD-6534-420C-3734EB25C2D8}"/>
              </a:ext>
            </a:extLst>
          </p:cNvPr>
          <p:cNvSpPr txBox="1"/>
          <p:nvPr/>
        </p:nvSpPr>
        <p:spPr>
          <a:xfrm>
            <a:off x="467544" y="6381328"/>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3</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2"/>
          <p:cNvSpPr txBox="1">
            <a:spLocks noChangeArrowheads="1"/>
          </p:cNvSpPr>
          <p:nvPr/>
        </p:nvSpPr>
        <p:spPr bwMode="auto">
          <a:xfrm>
            <a:off x="827584" y="262406"/>
            <a:ext cx="7488832" cy="1015663"/>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Literature Survey:</a:t>
            </a:r>
          </a:p>
          <a:p>
            <a:endParaRPr lang="en-US" sz="2000" dirty="0">
              <a:solidFill>
                <a:schemeClr val="tx1"/>
              </a:solidFill>
              <a:latin typeface="Times New Roman" pitchFamily="16" charset="0"/>
              <a:cs typeface="Times New Roman" pitchFamily="16" charset="0"/>
            </a:endParaRPr>
          </a:p>
        </p:txBody>
      </p:sp>
      <p:graphicFrame>
        <p:nvGraphicFramePr>
          <p:cNvPr id="2" name="Table 2">
            <a:extLst>
              <a:ext uri="{FF2B5EF4-FFF2-40B4-BE49-F238E27FC236}">
                <a16:creationId xmlns:a16="http://schemas.microsoft.com/office/drawing/2014/main" id="{A92A6E5F-D450-8F3A-5423-59CD20548A99}"/>
              </a:ext>
            </a:extLst>
          </p:cNvPr>
          <p:cNvGraphicFramePr>
            <a:graphicFrameLocks noGrp="1"/>
          </p:cNvGraphicFramePr>
          <p:nvPr>
            <p:extLst>
              <p:ext uri="{D42A27DB-BD31-4B8C-83A1-F6EECF244321}">
                <p14:modId xmlns:p14="http://schemas.microsoft.com/office/powerpoint/2010/main" val="2937393766"/>
              </p:ext>
            </p:extLst>
          </p:nvPr>
        </p:nvGraphicFramePr>
        <p:xfrm>
          <a:off x="1163706" y="1124744"/>
          <a:ext cx="6816587" cy="5328589"/>
        </p:xfrm>
        <a:graphic>
          <a:graphicData uri="http://schemas.openxmlformats.org/drawingml/2006/table">
            <a:tbl>
              <a:tblPr firstRow="1" bandRow="1">
                <a:tableStyleId>{5C22544A-7EE6-4342-B048-85BDC9FD1C3A}</a:tableStyleId>
              </a:tblPr>
              <a:tblGrid>
                <a:gridCol w="506015">
                  <a:extLst>
                    <a:ext uri="{9D8B030D-6E8A-4147-A177-3AD203B41FA5}">
                      <a16:colId xmlns:a16="http://schemas.microsoft.com/office/drawing/2014/main" val="912249144"/>
                    </a:ext>
                  </a:extLst>
                </a:gridCol>
                <a:gridCol w="1303281">
                  <a:extLst>
                    <a:ext uri="{9D8B030D-6E8A-4147-A177-3AD203B41FA5}">
                      <a16:colId xmlns:a16="http://schemas.microsoft.com/office/drawing/2014/main" val="1808908988"/>
                    </a:ext>
                  </a:extLst>
                </a:gridCol>
                <a:gridCol w="1589988">
                  <a:extLst>
                    <a:ext uri="{9D8B030D-6E8A-4147-A177-3AD203B41FA5}">
                      <a16:colId xmlns:a16="http://schemas.microsoft.com/office/drawing/2014/main" val="2201969377"/>
                    </a:ext>
                  </a:extLst>
                </a:gridCol>
                <a:gridCol w="1589988">
                  <a:extLst>
                    <a:ext uri="{9D8B030D-6E8A-4147-A177-3AD203B41FA5}">
                      <a16:colId xmlns:a16="http://schemas.microsoft.com/office/drawing/2014/main" val="3414330790"/>
                    </a:ext>
                  </a:extLst>
                </a:gridCol>
                <a:gridCol w="1827315">
                  <a:extLst>
                    <a:ext uri="{9D8B030D-6E8A-4147-A177-3AD203B41FA5}">
                      <a16:colId xmlns:a16="http://schemas.microsoft.com/office/drawing/2014/main" val="696750220"/>
                    </a:ext>
                  </a:extLst>
                </a:gridCol>
              </a:tblGrid>
              <a:tr h="353758">
                <a:tc>
                  <a:txBody>
                    <a:bodyPr/>
                    <a:lstStyle/>
                    <a:p>
                      <a:r>
                        <a:rPr lang="en-US" sz="1100" dirty="0">
                          <a:latin typeface="Times New Roman" panose="02020603050405020304" pitchFamily="18" charset="0"/>
                          <a:cs typeface="Times New Roman" panose="02020603050405020304" pitchFamily="18" charset="0"/>
                        </a:rPr>
                        <a:t>Year</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Author Name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Title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Conference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Conclusion</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5170870"/>
                  </a:ext>
                </a:extLst>
              </a:tr>
              <a:tr h="960055">
                <a:tc>
                  <a:txBody>
                    <a:bodyPr/>
                    <a:lstStyle/>
                    <a:p>
                      <a:r>
                        <a:rPr lang="en-US" sz="1100" dirty="0">
                          <a:latin typeface="Times New Roman" panose="02020603050405020304" pitchFamily="18" charset="0"/>
                          <a:cs typeface="Times New Roman" panose="02020603050405020304" pitchFamily="18" charset="0"/>
                        </a:rPr>
                        <a:t>2019</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err="1">
                          <a:latin typeface="Times New Roman" panose="02020603050405020304" pitchFamily="18" charset="0"/>
                          <a:cs typeface="Times New Roman" panose="02020603050405020304" pitchFamily="18" charset="0"/>
                        </a:rPr>
                        <a:t>Yukai</a:t>
                      </a:r>
                      <a:r>
                        <a:rPr lang="en-IN" sz="1100" dirty="0">
                          <a:latin typeface="Times New Roman" panose="02020603050405020304" pitchFamily="18" charset="0"/>
                          <a:cs typeface="Times New Roman" panose="02020603050405020304" pitchFamily="18" charset="0"/>
                        </a:rPr>
                        <a:t> Shi, </a:t>
                      </a:r>
                      <a:r>
                        <a:rPr lang="en-IN" sz="1100" dirty="0" err="1">
                          <a:latin typeface="Times New Roman" panose="02020603050405020304" pitchFamily="18" charset="0"/>
                          <a:cs typeface="Times New Roman" panose="02020603050405020304" pitchFamily="18" charset="0"/>
                        </a:rPr>
                        <a:t>Guanbin</a:t>
                      </a:r>
                      <a:r>
                        <a:rPr lang="en-IN" sz="1100" dirty="0">
                          <a:latin typeface="Times New Roman" panose="02020603050405020304" pitchFamily="18" charset="0"/>
                          <a:cs typeface="Times New Roman" panose="02020603050405020304" pitchFamily="18" charset="0"/>
                        </a:rPr>
                        <a:t> Li, </a:t>
                      </a:r>
                      <a:r>
                        <a:rPr lang="en-IN" sz="1100" dirty="0" err="1">
                          <a:latin typeface="Times New Roman" panose="02020603050405020304" pitchFamily="18" charset="0"/>
                          <a:cs typeface="Times New Roman" panose="02020603050405020304" pitchFamily="18" charset="0"/>
                        </a:rPr>
                        <a:t>Qingxing</a:t>
                      </a:r>
                      <a:r>
                        <a:rPr lang="en-IN" sz="1100" dirty="0">
                          <a:latin typeface="Times New Roman" panose="02020603050405020304" pitchFamily="18" charset="0"/>
                          <a:cs typeface="Times New Roman" panose="02020603050405020304" pitchFamily="18" charset="0"/>
                        </a:rPr>
                        <a:t> Cao, </a:t>
                      </a:r>
                      <a:r>
                        <a:rPr lang="en-IN" sz="1100" dirty="0" err="1">
                          <a:latin typeface="Times New Roman" panose="02020603050405020304" pitchFamily="18" charset="0"/>
                          <a:cs typeface="Times New Roman" panose="02020603050405020304" pitchFamily="18" charset="0"/>
                        </a:rPr>
                        <a:t>Keze</a:t>
                      </a:r>
                      <a:r>
                        <a:rPr lang="en-IN" sz="1100" dirty="0">
                          <a:latin typeface="Times New Roman" panose="02020603050405020304" pitchFamily="18" charset="0"/>
                          <a:cs typeface="Times New Roman" panose="02020603050405020304" pitchFamily="18" charset="0"/>
                        </a:rPr>
                        <a:t> Wang, Liang Lin</a:t>
                      </a:r>
                    </a:p>
                  </a:txBody>
                  <a:tcPr/>
                </a:tc>
                <a:tc>
                  <a:txBody>
                    <a:bodyPr/>
                    <a:lstStyle/>
                    <a:p>
                      <a:r>
                        <a:rPr lang="en-US" sz="1100" dirty="0">
                          <a:latin typeface="Times New Roman" panose="02020603050405020304" pitchFamily="18" charset="0"/>
                          <a:cs typeface="Times New Roman" panose="02020603050405020304" pitchFamily="18" charset="0"/>
                        </a:rPr>
                        <a:t>Face Hallucination by Attentive Sequence</a:t>
                      </a:r>
                    </a:p>
                    <a:p>
                      <a:r>
                        <a:rPr lang="en-US" sz="1100" dirty="0">
                          <a:latin typeface="Times New Roman" panose="02020603050405020304" pitchFamily="18" charset="0"/>
                          <a:cs typeface="Times New Roman" panose="02020603050405020304" pitchFamily="18" charset="0"/>
                        </a:rPr>
                        <a:t>Optimization with Reinforcement Learning</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Transactions on Pattern Analysis and Machine Intelligence (TPAMI)</a:t>
                      </a:r>
                    </a:p>
                  </a:txBody>
                  <a:tcPr/>
                </a:tc>
                <a:tc>
                  <a:txBody>
                    <a:bodyPr/>
                    <a:lstStyle/>
                    <a:p>
                      <a:r>
                        <a:rPr lang="en-US" sz="1100" dirty="0">
                          <a:latin typeface="Times New Roman" panose="02020603050405020304" pitchFamily="18" charset="0"/>
                          <a:cs typeface="Times New Roman" panose="02020603050405020304" pitchFamily="18" charset="0"/>
                        </a:rPr>
                        <a:t>Gives algorithms to solve face hallucination problem in face detection using model training.</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4018854"/>
                  </a:ext>
                </a:extLst>
              </a:tr>
              <a:tr h="1309166">
                <a:tc>
                  <a:txBody>
                    <a:bodyPr/>
                    <a:lstStyle/>
                    <a:p>
                      <a:r>
                        <a:rPr lang="en-US" sz="1100" dirty="0">
                          <a:latin typeface="Times New Roman" panose="02020603050405020304" pitchFamily="18" charset="0"/>
                          <a:cs typeface="Times New Roman" panose="02020603050405020304" pitchFamily="18" charset="0"/>
                        </a:rPr>
                        <a:t>2020</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Tanvir Ahmed, </a:t>
                      </a:r>
                      <a:r>
                        <a:rPr lang="en-IN" sz="1100" dirty="0" err="1">
                          <a:latin typeface="Times New Roman" panose="02020603050405020304" pitchFamily="18" charset="0"/>
                          <a:cs typeface="Times New Roman" panose="02020603050405020304" pitchFamily="18" charset="0"/>
                        </a:rPr>
                        <a:t>Prangon</a:t>
                      </a:r>
                      <a:r>
                        <a:rPr lang="en-IN" sz="1100" dirty="0">
                          <a:latin typeface="Times New Roman" panose="02020603050405020304" pitchFamily="18" charset="0"/>
                          <a:cs typeface="Times New Roman" panose="02020603050405020304" pitchFamily="18" charset="0"/>
                        </a:rPr>
                        <a:t> Das, Md. </a:t>
                      </a:r>
                      <a:r>
                        <a:rPr lang="en-IN" sz="1100" dirty="0" err="1">
                          <a:latin typeface="Times New Roman" panose="02020603050405020304" pitchFamily="18" charset="0"/>
                          <a:cs typeface="Times New Roman" panose="02020603050405020304" pitchFamily="18" charset="0"/>
                        </a:rPr>
                        <a:t>Firoj</a:t>
                      </a:r>
                      <a:r>
                        <a:rPr lang="en-IN" sz="1100" dirty="0">
                          <a:latin typeface="Times New Roman" panose="02020603050405020304" pitchFamily="18" charset="0"/>
                          <a:cs typeface="Times New Roman" panose="02020603050405020304" pitchFamily="18" charset="0"/>
                        </a:rPr>
                        <a:t> Ali, Md- Firoz Mahmud</a:t>
                      </a:r>
                    </a:p>
                  </a:txBody>
                  <a:tcPr/>
                </a:tc>
                <a:tc>
                  <a:txBody>
                    <a:bodyPr/>
                    <a:lstStyle/>
                    <a:p>
                      <a:r>
                        <a:rPr lang="en-US" sz="1100" dirty="0">
                          <a:latin typeface="Times New Roman" panose="02020603050405020304" pitchFamily="18" charset="0"/>
                          <a:cs typeface="Times New Roman" panose="02020603050405020304" pitchFamily="18" charset="0"/>
                        </a:rPr>
                        <a:t>A Comparative Study on Convolutional Neural</a:t>
                      </a:r>
                    </a:p>
                    <a:p>
                      <a:r>
                        <a:rPr lang="en-US" sz="1100" dirty="0">
                          <a:latin typeface="Times New Roman" panose="02020603050405020304" pitchFamily="18" charset="0"/>
                          <a:cs typeface="Times New Roman" panose="02020603050405020304" pitchFamily="18" charset="0"/>
                        </a:rPr>
                        <a:t>Network Based Face Recognition</a:t>
                      </a:r>
                    </a:p>
                    <a:p>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11th International Conference on Computing, Communication and Networking Technologies (ICCCNT)</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Presents a study to recognize faces from a customized dataset of 10 identities of different</a:t>
                      </a:r>
                    </a:p>
                    <a:p>
                      <a:r>
                        <a:rPr lang="en-US" sz="1100" dirty="0">
                          <a:latin typeface="Times New Roman" panose="02020603050405020304" pitchFamily="18" charset="0"/>
                          <a:cs typeface="Times New Roman" panose="02020603050405020304" pitchFamily="18" charset="0"/>
                        </a:rPr>
                        <a:t>celebrities using Convolutional Neural Network.</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0947670"/>
                  </a:ext>
                </a:extLst>
              </a:tr>
              <a:tr h="960055">
                <a:tc>
                  <a:txBody>
                    <a:bodyPr/>
                    <a:lstStyle/>
                    <a:p>
                      <a:r>
                        <a:rPr lang="en-US" sz="1100" dirty="0">
                          <a:latin typeface="Times New Roman" panose="02020603050405020304" pitchFamily="18" charset="0"/>
                          <a:cs typeface="Times New Roman" panose="02020603050405020304" pitchFamily="18" charset="0"/>
                        </a:rPr>
                        <a:t>2020</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Truong Quang Vinh, Nguyen Tran Ngoc Anh</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Real Time Face Mask Detector with YOLOv3 Algorithm &amp; </a:t>
                      </a:r>
                      <a:r>
                        <a:rPr lang="en-US" sz="1100" dirty="0" err="1">
                          <a:solidFill>
                            <a:schemeClr val="tx1"/>
                          </a:solidFill>
                          <a:latin typeface="Times New Roman" panose="02020603050405020304" pitchFamily="18" charset="0"/>
                          <a:cs typeface="Times New Roman" panose="02020603050405020304" pitchFamily="18" charset="0"/>
                        </a:rPr>
                        <a:t>Haar</a:t>
                      </a:r>
                      <a:r>
                        <a:rPr lang="en-US" sz="1100" dirty="0">
                          <a:solidFill>
                            <a:schemeClr val="tx1"/>
                          </a:solidFill>
                          <a:latin typeface="Times New Roman" panose="02020603050405020304" pitchFamily="18" charset="0"/>
                          <a:cs typeface="Times New Roman" panose="02020603050405020304" pitchFamily="18" charset="0"/>
                        </a:rPr>
                        <a:t> Cascade Classifier</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International Conference on Advanced Computing and Applications (ACOMP)</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Detects face mask using YOLOv3 algorithm and </a:t>
                      </a:r>
                      <a:r>
                        <a:rPr lang="en-US" sz="1100" dirty="0" err="1">
                          <a:latin typeface="Times New Roman" panose="02020603050405020304" pitchFamily="18" charset="0"/>
                          <a:cs typeface="Times New Roman" panose="02020603050405020304" pitchFamily="18" charset="0"/>
                        </a:rPr>
                        <a:t>Haar</a:t>
                      </a:r>
                      <a:r>
                        <a:rPr lang="en-US" sz="1100" dirty="0">
                          <a:latin typeface="Times New Roman" panose="02020603050405020304" pitchFamily="18" charset="0"/>
                          <a:cs typeface="Times New Roman" panose="02020603050405020304" pitchFamily="18" charset="0"/>
                        </a:rPr>
                        <a:t> Cascade classifier.</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8018050"/>
                  </a:ext>
                </a:extLst>
              </a:tr>
              <a:tr h="960055">
                <a:tc>
                  <a:txBody>
                    <a:bodyPr/>
                    <a:lstStyle/>
                    <a:p>
                      <a:r>
                        <a:rPr lang="en-US" sz="1100" dirty="0">
                          <a:latin typeface="Times New Roman" panose="02020603050405020304" pitchFamily="18" charset="0"/>
                          <a:cs typeface="Times New Roman" panose="02020603050405020304" pitchFamily="18" charset="0"/>
                        </a:rPr>
                        <a:t>2021</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M Rohini, K.R </a:t>
                      </a:r>
                      <a:r>
                        <a:rPr lang="en-US" sz="1100" dirty="0" err="1">
                          <a:solidFill>
                            <a:schemeClr val="tx1"/>
                          </a:solidFill>
                          <a:latin typeface="Times New Roman" panose="02020603050405020304" pitchFamily="18" charset="0"/>
                          <a:cs typeface="Times New Roman" panose="02020603050405020304" pitchFamily="18" charset="0"/>
                        </a:rPr>
                        <a:t>Naveena</a:t>
                      </a:r>
                      <a:r>
                        <a:rPr lang="en-US" sz="1100" dirty="0">
                          <a:solidFill>
                            <a:schemeClr val="tx1"/>
                          </a:solidFill>
                          <a:latin typeface="Times New Roman" panose="02020603050405020304" pitchFamily="18" charset="0"/>
                          <a:cs typeface="Times New Roman" panose="02020603050405020304" pitchFamily="18" charset="0"/>
                        </a:rPr>
                        <a:t>, G </a:t>
                      </a:r>
                      <a:r>
                        <a:rPr lang="en-US" sz="1100" dirty="0" err="1">
                          <a:solidFill>
                            <a:schemeClr val="tx1"/>
                          </a:solidFill>
                          <a:latin typeface="Times New Roman" panose="02020603050405020304" pitchFamily="18" charset="0"/>
                          <a:cs typeface="Times New Roman" panose="02020603050405020304" pitchFamily="18" charset="0"/>
                        </a:rPr>
                        <a:t>Jothipriya</a:t>
                      </a:r>
                      <a:r>
                        <a:rPr lang="en-US" sz="1100" dirty="0">
                          <a:solidFill>
                            <a:schemeClr val="tx1"/>
                          </a:solidFill>
                          <a:latin typeface="Times New Roman" panose="02020603050405020304" pitchFamily="18" charset="0"/>
                          <a:cs typeface="Times New Roman" panose="02020603050405020304" pitchFamily="18" charset="0"/>
                        </a:rPr>
                        <a:t>, S </a:t>
                      </a:r>
                      <a:r>
                        <a:rPr lang="en-US" sz="1100" dirty="0" err="1">
                          <a:solidFill>
                            <a:schemeClr val="tx1"/>
                          </a:solidFill>
                          <a:latin typeface="Times New Roman" panose="02020603050405020304" pitchFamily="18" charset="0"/>
                          <a:cs typeface="Times New Roman" panose="02020603050405020304" pitchFamily="18" charset="0"/>
                        </a:rPr>
                        <a:t>Kameshwaran</a:t>
                      </a:r>
                      <a:r>
                        <a:rPr lang="en-US" sz="1100" dirty="0">
                          <a:solidFill>
                            <a:schemeClr val="tx1"/>
                          </a:solidFill>
                          <a:latin typeface="Times New Roman" panose="02020603050405020304" pitchFamily="18" charset="0"/>
                          <a:cs typeface="Times New Roman" panose="02020603050405020304" pitchFamily="18" charset="0"/>
                        </a:rPr>
                        <a:t>, M </a:t>
                      </a:r>
                      <a:r>
                        <a:rPr lang="en-US" sz="1100" dirty="0" err="1">
                          <a:solidFill>
                            <a:schemeClr val="tx1"/>
                          </a:solidFill>
                          <a:latin typeface="Times New Roman" panose="02020603050405020304" pitchFamily="18" charset="0"/>
                          <a:cs typeface="Times New Roman" panose="02020603050405020304" pitchFamily="18" charset="0"/>
                        </a:rPr>
                        <a:t>Jagadeeswari</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A Comparative Approach To Predict Corona Virus Using Machine Learning</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International Conference on Artificial Intelligence and Smart Systems (ICAIS)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Gives machine learning algorithm using Support Vector Machines and KNN algorithm.</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03541701"/>
                  </a:ext>
                </a:extLst>
              </a:tr>
              <a:tr h="785500">
                <a:tc>
                  <a:txBody>
                    <a:bodyPr/>
                    <a:lstStyle/>
                    <a:p>
                      <a:r>
                        <a:rPr lang="en-US" sz="1100" dirty="0">
                          <a:latin typeface="Times New Roman" panose="02020603050405020304" pitchFamily="18" charset="0"/>
                          <a:cs typeface="Times New Roman" panose="02020603050405020304" pitchFamily="18" charset="0"/>
                        </a:rPr>
                        <a:t>2020</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err="1">
                          <a:solidFill>
                            <a:schemeClr val="tx1"/>
                          </a:solidFill>
                          <a:latin typeface="Times New Roman" panose="02020603050405020304" pitchFamily="18" charset="0"/>
                          <a:cs typeface="Times New Roman" panose="02020603050405020304" pitchFamily="18" charset="0"/>
                        </a:rPr>
                        <a:t>Wuttichai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Vijitkunsawat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Peerasak</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Chantngarm</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Study of the Performance of Algorithms for Face Mask Detection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5th International Conference on Information Technology (</a:t>
                      </a:r>
                      <a:r>
                        <a:rPr lang="en-US" sz="1100" dirty="0" err="1">
                          <a:latin typeface="Times New Roman" panose="02020603050405020304" pitchFamily="18" charset="0"/>
                          <a:cs typeface="Times New Roman" panose="02020603050405020304" pitchFamily="18" charset="0"/>
                        </a:rPr>
                        <a:t>InCIT</a:t>
                      </a:r>
                      <a:r>
                        <a:rPr lang="en-US" sz="1100" dirty="0">
                          <a:latin typeface="Times New Roman" panose="02020603050405020304" pitchFamily="18" charset="0"/>
                          <a:cs typeface="Times New Roman" panose="02020603050405020304" pitchFamily="18" charset="0"/>
                        </a:rPr>
                        <a:t>)</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latin typeface="Times New Roman" panose="02020603050405020304" pitchFamily="18" charset="0"/>
                          <a:cs typeface="Times New Roman" panose="02020603050405020304" pitchFamily="18" charset="0"/>
                        </a:rPr>
                        <a:t>Proposes a system ‘MFD’ using IMX-219 Camera module and AI processing.</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74355561"/>
                  </a:ext>
                </a:extLst>
              </a:tr>
            </a:tbl>
          </a:graphicData>
        </a:graphic>
      </p:graphicFrame>
      <p:sp>
        <p:nvSpPr>
          <p:cNvPr id="4" name="TextBox 3">
            <a:extLst>
              <a:ext uri="{FF2B5EF4-FFF2-40B4-BE49-F238E27FC236}">
                <a16:creationId xmlns:a16="http://schemas.microsoft.com/office/drawing/2014/main" id="{758F863F-E45C-C651-6C93-0F0EFADCB481}"/>
              </a:ext>
            </a:extLst>
          </p:cNvPr>
          <p:cNvSpPr txBox="1"/>
          <p:nvPr/>
        </p:nvSpPr>
        <p:spPr>
          <a:xfrm>
            <a:off x="467544" y="6453333"/>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4</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476672"/>
            <a:ext cx="7286676" cy="5940088"/>
          </a:xfrm>
          <a:prstGeom prst="rect">
            <a:avLst/>
          </a:prstGeom>
        </p:spPr>
        <p:txBody>
          <a:bodyPr wrap="square">
            <a:spAutoFit/>
          </a:bodyPr>
          <a:lstStyle/>
          <a:p>
            <a:pPr marL="457200" indent="-457200"/>
            <a:r>
              <a:rPr lang="en-US" sz="4000" dirty="0">
                <a:solidFill>
                  <a:schemeClr val="tx1"/>
                </a:solidFill>
                <a:latin typeface="Times New Roman" pitchFamily="16" charset="0"/>
                <a:cs typeface="Times New Roman" pitchFamily="16" charset="0"/>
              </a:rPr>
              <a:t>Problem Statement:</a:t>
            </a:r>
          </a:p>
          <a:p>
            <a:pPr marL="457200" indent="-457200">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457200" indent="-457200" algn="just">
              <a:buFont typeface="+mj-lt"/>
              <a:buAutoNum type="arabicPeriod"/>
            </a:pPr>
            <a:endParaRPr lang="en-US" sz="2000" dirty="0">
              <a:solidFill>
                <a:schemeClr val="tx1"/>
              </a:solidFill>
              <a:latin typeface="Times New Roman" pitchFamily="16" charset="0"/>
              <a:cs typeface="Times New Roman" pitchFamily="16" charset="0"/>
            </a:endParaRPr>
          </a:p>
          <a:p>
            <a:pPr marL="457200" indent="-457200" algn="just">
              <a:buFont typeface="+mj-lt"/>
              <a:buAutoNum type="arabicPeriod"/>
            </a:pPr>
            <a:r>
              <a:rPr lang="en-US" sz="2000" dirty="0">
                <a:solidFill>
                  <a:schemeClr val="tx1"/>
                </a:solidFill>
                <a:latin typeface="Times New Roman" pitchFamily="16" charset="0"/>
                <a:cs typeface="Times New Roman" pitchFamily="16" charset="0"/>
              </a:rPr>
              <a:t>COVID-19 is the greatest challenge in front of mankind. According to the WHO, COVID-19 disease spreads through corona virus from infected person to anyone by the droplets of saliva or liquid particles. So at places where major number of people are gathering, it is mandatory to check everyone has wear a mask or not. </a:t>
            </a:r>
          </a:p>
          <a:p>
            <a:pPr marL="457200" indent="-457200" algn="just">
              <a:buFont typeface="+mj-lt"/>
              <a:buAutoNum type="arabicPeriod"/>
            </a:pPr>
            <a:endParaRPr lang="en-US" sz="2000" dirty="0">
              <a:solidFill>
                <a:schemeClr val="tx1"/>
              </a:solidFill>
              <a:latin typeface="Times New Roman" pitchFamily="16" charset="0"/>
              <a:cs typeface="Times New Roman" pitchFamily="16" charset="0"/>
            </a:endParaRPr>
          </a:p>
          <a:p>
            <a:pPr marL="457200" indent="-457200" algn="just">
              <a:buFont typeface="+mj-lt"/>
              <a:buAutoNum type="arabicPeriod"/>
            </a:pPr>
            <a:r>
              <a:rPr lang="en-US" sz="2000" dirty="0">
                <a:solidFill>
                  <a:schemeClr val="tx1"/>
                </a:solidFill>
                <a:latin typeface="Times New Roman" pitchFamily="16" charset="0"/>
                <a:cs typeface="Times New Roman" pitchFamily="16" charset="0"/>
              </a:rPr>
              <a:t>It is very challenging to do this process by any person where large number of people enter and pass. We can create solution of this problem using electronics system by detecting the mask availability of all the people individually.</a:t>
            </a:r>
          </a:p>
          <a:p>
            <a:pPr marL="342900" indent="-342900"/>
            <a:endParaRPr lang="en-US" sz="4000" dirty="0">
              <a:solidFill>
                <a:schemeClr val="tx1"/>
              </a:solidFill>
              <a:latin typeface="Times New Roman" pitchFamily="16" charset="0"/>
              <a:cs typeface="Times New Roman" pitchFamily="16" charset="0"/>
            </a:endParaRPr>
          </a:p>
          <a:p>
            <a:pPr marL="342900" indent="-342900"/>
            <a:endParaRPr lang="en-US" sz="4000" dirty="0">
              <a:solidFill>
                <a:schemeClr val="tx1"/>
              </a:solidFill>
              <a:latin typeface="Times New Roman" pitchFamily="16" charset="0"/>
              <a:cs typeface="Times New Roman" pitchFamily="16" charset="0"/>
            </a:endParaRPr>
          </a:p>
        </p:txBody>
      </p:sp>
      <p:sp>
        <p:nvSpPr>
          <p:cNvPr id="3" name="TextBox 2">
            <a:extLst>
              <a:ext uri="{FF2B5EF4-FFF2-40B4-BE49-F238E27FC236}">
                <a16:creationId xmlns:a16="http://schemas.microsoft.com/office/drawing/2014/main" id="{C8997B81-3BDE-081A-44A9-C8A776AF0424}"/>
              </a:ext>
            </a:extLst>
          </p:cNvPr>
          <p:cNvSpPr txBox="1"/>
          <p:nvPr/>
        </p:nvSpPr>
        <p:spPr>
          <a:xfrm>
            <a:off x="395536" y="6432720"/>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5</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3548" y="476672"/>
            <a:ext cx="8136904" cy="3108543"/>
          </a:xfrm>
          <a:prstGeom prst="rect">
            <a:avLst/>
          </a:prstGeom>
        </p:spPr>
        <p:txBody>
          <a:bodyPr wrap="square">
            <a:spAutoFit/>
          </a:bodyPr>
          <a:lstStyle/>
          <a:p>
            <a:pPr marL="342900" lvl="0" indent="-342900"/>
            <a:r>
              <a:rPr lang="en-US" sz="4000" dirty="0">
                <a:solidFill>
                  <a:srgbClr val="000000"/>
                </a:solidFill>
                <a:latin typeface="Times New Roman" pitchFamily="16" charset="0"/>
                <a:cs typeface="Times New Roman" pitchFamily="16" charset="0"/>
              </a:rPr>
              <a:t>Objectives of Proposed Project:</a:t>
            </a:r>
          </a:p>
          <a:p>
            <a:pPr marL="342900" lvl="0" indent="-342900"/>
            <a:endParaRPr lang="en-US" dirty="0">
              <a:solidFill>
                <a:srgbClr val="000000"/>
              </a:solidFill>
              <a:latin typeface="Times New Roman" pitchFamily="16" charset="0"/>
              <a:cs typeface="Times New Roman" pitchFamily="16" charset="0"/>
            </a:endParaRPr>
          </a:p>
          <a:p>
            <a:pPr marL="457200" lvl="0" indent="-457200" algn="just">
              <a:buFont typeface="+mj-lt"/>
              <a:buAutoNum type="arabicPeriod"/>
            </a:pPr>
            <a:endParaRPr lang="en-US" sz="2000" dirty="0">
              <a:solidFill>
                <a:srgbClr val="000000"/>
              </a:solidFill>
              <a:latin typeface="Times New Roman" pitchFamily="16" charset="0"/>
              <a:cs typeface="Times New Roman" pitchFamily="16" charset="0"/>
            </a:endParaRPr>
          </a:p>
          <a:p>
            <a:pPr marL="457200" lvl="0" indent="-457200" algn="just">
              <a:buFont typeface="+mj-lt"/>
              <a:buAutoNum type="arabicPeriod"/>
            </a:pPr>
            <a:r>
              <a:rPr lang="en-US" sz="2000" dirty="0">
                <a:solidFill>
                  <a:srgbClr val="000000"/>
                </a:solidFill>
                <a:latin typeface="Times New Roman" pitchFamily="16" charset="0"/>
                <a:cs typeface="Times New Roman" pitchFamily="16" charset="0"/>
              </a:rPr>
              <a:t>To develop an Arduino based Face Mask Detector system which can check the person has wore a face mask or not. </a:t>
            </a:r>
          </a:p>
          <a:p>
            <a:pPr marL="457200" lvl="0" indent="-457200" algn="just">
              <a:buFont typeface="+mj-lt"/>
              <a:buAutoNum type="arabicPeriod"/>
            </a:pPr>
            <a:endParaRPr lang="en-US" sz="2000" dirty="0">
              <a:solidFill>
                <a:srgbClr val="000000"/>
              </a:solidFill>
              <a:latin typeface="Times New Roman" pitchFamily="16" charset="0"/>
              <a:cs typeface="Times New Roman" pitchFamily="16" charset="0"/>
            </a:endParaRPr>
          </a:p>
          <a:p>
            <a:pPr marL="457200" lvl="0" indent="-457200" algn="just">
              <a:buFont typeface="+mj-lt"/>
              <a:buAutoNum type="arabicPeriod"/>
            </a:pPr>
            <a:r>
              <a:rPr lang="en-US" sz="2000" dirty="0">
                <a:solidFill>
                  <a:srgbClr val="000000"/>
                </a:solidFill>
                <a:latin typeface="Times New Roman" pitchFamily="16" charset="0"/>
                <a:cs typeface="Times New Roman" pitchFamily="16" charset="0"/>
              </a:rPr>
              <a:t>To develop a system which shows a message turning on LED that a person has wore a face mask.</a:t>
            </a:r>
          </a:p>
          <a:p>
            <a:pPr marL="342900" lvl="0" indent="-342900"/>
            <a:endParaRPr lang="en-US" dirty="0">
              <a:solidFill>
                <a:srgbClr val="000000"/>
              </a:solidFill>
              <a:latin typeface="Times New Roman" pitchFamily="16" charset="0"/>
              <a:cs typeface="Times New Roman" pitchFamily="16" charset="0"/>
            </a:endParaRPr>
          </a:p>
        </p:txBody>
      </p:sp>
      <p:sp>
        <p:nvSpPr>
          <p:cNvPr id="3" name="TextBox 2">
            <a:extLst>
              <a:ext uri="{FF2B5EF4-FFF2-40B4-BE49-F238E27FC236}">
                <a16:creationId xmlns:a16="http://schemas.microsoft.com/office/drawing/2014/main" id="{946B50B6-A374-83AC-70F1-767351418317}"/>
              </a:ext>
            </a:extLst>
          </p:cNvPr>
          <p:cNvSpPr txBox="1"/>
          <p:nvPr/>
        </p:nvSpPr>
        <p:spPr>
          <a:xfrm>
            <a:off x="472799" y="6453336"/>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6</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5016758"/>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System Overview:</a:t>
            </a:r>
          </a:p>
          <a:p>
            <a:endParaRPr lang="en-IN"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The Face Mask Detector is totally based on the function and working of ESP32 CAM.  A program code is needed to be inserted in ESP32 CAM to run the circuit. </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First of all, the person should stand in front of the system and should look at the camera module. </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The person's face will be scanned by camera module and face mask is detected using the source code.</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If mask detected then green LED will glow. This is how the system shows output.</a:t>
            </a:r>
            <a:endParaRPr lang="en-IN" sz="2000" dirty="0">
              <a:solidFill>
                <a:schemeClr val="tx1"/>
              </a:solidFill>
              <a:latin typeface="Times New Roman" pitchFamily="16" charset="0"/>
              <a:cs typeface="Times New Roman" pitchFamily="16" charset="0"/>
            </a:endParaRPr>
          </a:p>
        </p:txBody>
      </p:sp>
      <p:sp>
        <p:nvSpPr>
          <p:cNvPr id="3" name="TextBox 2">
            <a:extLst>
              <a:ext uri="{FF2B5EF4-FFF2-40B4-BE49-F238E27FC236}">
                <a16:creationId xmlns:a16="http://schemas.microsoft.com/office/drawing/2014/main" id="{DA4C827E-4F46-65CB-5035-5AF8D0F6BAB1}"/>
              </a:ext>
            </a:extLst>
          </p:cNvPr>
          <p:cNvSpPr txBox="1"/>
          <p:nvPr/>
        </p:nvSpPr>
        <p:spPr>
          <a:xfrm>
            <a:off x="503548" y="6453336"/>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7</a:t>
            </a:r>
            <a:endParaRPr lang="en-IN"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317009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Problem Definition</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It requires a lot of time and human efforts to determine each and every person in the crowd has wore a mask or not and then separate out them. This task should be made easy. </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This requires a solution which uses automatic technology to save time and efforts.</a:t>
            </a:r>
          </a:p>
        </p:txBody>
      </p:sp>
      <p:sp>
        <p:nvSpPr>
          <p:cNvPr id="3" name="TextBox 2">
            <a:extLst>
              <a:ext uri="{FF2B5EF4-FFF2-40B4-BE49-F238E27FC236}">
                <a16:creationId xmlns:a16="http://schemas.microsoft.com/office/drawing/2014/main" id="{FF7CD485-4C69-B7E6-B103-FCBD57733803}"/>
              </a:ext>
            </a:extLst>
          </p:cNvPr>
          <p:cNvSpPr txBox="1"/>
          <p:nvPr/>
        </p:nvSpPr>
        <p:spPr>
          <a:xfrm>
            <a:off x="395536" y="6453336"/>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8</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293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32343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Hardware Requirements</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Arduino Uno</a:t>
            </a:r>
          </a:p>
        </p:txBody>
      </p:sp>
      <p:pic>
        <p:nvPicPr>
          <p:cNvPr id="3" name="Picture 2">
            <a:extLst>
              <a:ext uri="{FF2B5EF4-FFF2-40B4-BE49-F238E27FC236}">
                <a16:creationId xmlns:a16="http://schemas.microsoft.com/office/drawing/2014/main" id="{9B27A17E-BA0B-4C41-8A3B-31C6C2A467E8}"/>
              </a:ext>
            </a:extLst>
          </p:cNvPr>
          <p:cNvPicPr>
            <a:picLocks noChangeAspect="1"/>
          </p:cNvPicPr>
          <p:nvPr/>
        </p:nvPicPr>
        <p:blipFill rotWithShape="1">
          <a:blip r:embed="rId2">
            <a:extLst>
              <a:ext uri="{28A0092B-C50C-407E-A947-70E740481C1C}">
                <a14:useLocalDpi xmlns:a14="http://schemas.microsoft.com/office/drawing/2010/main" val="0"/>
              </a:ext>
            </a:extLst>
          </a:blip>
          <a:srcRect t="18900" r="-924" b="16002"/>
          <a:stretch/>
        </p:blipFill>
        <p:spPr>
          <a:xfrm>
            <a:off x="1939398" y="2348880"/>
            <a:ext cx="5265204" cy="3396209"/>
          </a:xfrm>
          <a:prstGeom prst="rect">
            <a:avLst/>
          </a:prstGeom>
        </p:spPr>
      </p:pic>
      <p:sp>
        <p:nvSpPr>
          <p:cNvPr id="4" name="TextBox 3">
            <a:extLst>
              <a:ext uri="{FF2B5EF4-FFF2-40B4-BE49-F238E27FC236}">
                <a16:creationId xmlns:a16="http://schemas.microsoft.com/office/drawing/2014/main" id="{1EAD446C-E017-7542-F902-72E6ECA85C65}"/>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9</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401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32343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Hardware Requirements</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ESP32 CAM</a:t>
            </a:r>
          </a:p>
        </p:txBody>
      </p:sp>
      <p:pic>
        <p:nvPicPr>
          <p:cNvPr id="3" name="Picture 2">
            <a:extLst>
              <a:ext uri="{FF2B5EF4-FFF2-40B4-BE49-F238E27FC236}">
                <a16:creationId xmlns:a16="http://schemas.microsoft.com/office/drawing/2014/main" id="{9B27A17E-BA0B-4C41-8A3B-31C6C2A467E8}"/>
              </a:ext>
            </a:extLst>
          </p:cNvPr>
          <p:cNvPicPr>
            <a:picLocks noChangeAspect="1"/>
          </p:cNvPicPr>
          <p:nvPr/>
        </p:nvPicPr>
        <p:blipFill rotWithShape="1">
          <a:blip r:embed="rId2">
            <a:extLst>
              <a:ext uri="{28A0092B-C50C-407E-A947-70E740481C1C}">
                <a14:useLocalDpi xmlns:a14="http://schemas.microsoft.com/office/drawing/2010/main" val="0"/>
              </a:ext>
            </a:extLst>
          </a:blip>
          <a:srcRect t="15044" b="15208"/>
          <a:stretch/>
        </p:blipFill>
        <p:spPr>
          <a:xfrm>
            <a:off x="2094257" y="2276872"/>
            <a:ext cx="4955486" cy="3456384"/>
          </a:xfrm>
          <a:prstGeom prst="rect">
            <a:avLst/>
          </a:prstGeom>
        </p:spPr>
      </p:pic>
      <p:sp>
        <p:nvSpPr>
          <p:cNvPr id="4" name="TextBox 3">
            <a:extLst>
              <a:ext uri="{FF2B5EF4-FFF2-40B4-BE49-F238E27FC236}">
                <a16:creationId xmlns:a16="http://schemas.microsoft.com/office/drawing/2014/main" id="{8FE21BB2-B301-ACA0-4C5E-9B86B345C6AF}"/>
              </a:ext>
            </a:extLst>
          </p:cNvPr>
          <p:cNvSpPr txBox="1"/>
          <p:nvPr/>
        </p:nvSpPr>
        <p:spPr>
          <a:xfrm>
            <a:off x="503548" y="6453336"/>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10</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454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32343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Hardware Requirements</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Green LED</a:t>
            </a:r>
          </a:p>
        </p:txBody>
      </p:sp>
      <p:pic>
        <p:nvPicPr>
          <p:cNvPr id="2" name="Picture 1">
            <a:extLst>
              <a:ext uri="{FF2B5EF4-FFF2-40B4-BE49-F238E27FC236}">
                <a16:creationId xmlns:a16="http://schemas.microsoft.com/office/drawing/2014/main" id="{9E844259-63FE-C5CB-BE7E-E2113E38479E}"/>
              </a:ext>
            </a:extLst>
          </p:cNvPr>
          <p:cNvPicPr>
            <a:picLocks noChangeAspect="1"/>
          </p:cNvPicPr>
          <p:nvPr/>
        </p:nvPicPr>
        <p:blipFill>
          <a:blip r:embed="rId2"/>
          <a:stretch>
            <a:fillRect/>
          </a:stretch>
        </p:blipFill>
        <p:spPr>
          <a:xfrm>
            <a:off x="1187624" y="2060848"/>
            <a:ext cx="6237665" cy="3505568"/>
          </a:xfrm>
          <a:prstGeom prst="rect">
            <a:avLst/>
          </a:prstGeom>
        </p:spPr>
      </p:pic>
      <p:sp>
        <p:nvSpPr>
          <p:cNvPr id="4" name="TextBox 3">
            <a:extLst>
              <a:ext uri="{FF2B5EF4-FFF2-40B4-BE49-F238E27FC236}">
                <a16:creationId xmlns:a16="http://schemas.microsoft.com/office/drawing/2014/main" id="{899F6306-8869-002C-4900-65ECD31EDF55}"/>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11</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2460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2862322"/>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Software Requirements</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Fritzing</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Proteus</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Arduino IDE</a:t>
            </a:r>
          </a:p>
        </p:txBody>
      </p:sp>
      <p:sp>
        <p:nvSpPr>
          <p:cNvPr id="3" name="TextBox 2">
            <a:extLst>
              <a:ext uri="{FF2B5EF4-FFF2-40B4-BE49-F238E27FC236}">
                <a16:creationId xmlns:a16="http://schemas.microsoft.com/office/drawing/2014/main" id="{4229B154-531F-DCA9-AE31-1DB5B5550DB1}"/>
              </a:ext>
            </a:extLst>
          </p:cNvPr>
          <p:cNvSpPr txBox="1"/>
          <p:nvPr/>
        </p:nvSpPr>
        <p:spPr>
          <a:xfrm>
            <a:off x="539552" y="6420138"/>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12</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3926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2FE542-F236-49FF-85CE-C405916B89C1}"/>
              </a:ext>
            </a:extLst>
          </p:cNvPr>
          <p:cNvSpPr/>
          <p:nvPr/>
        </p:nvSpPr>
        <p:spPr bwMode="auto">
          <a:xfrm>
            <a:off x="3491880" y="1844826"/>
            <a:ext cx="2160240" cy="2736302"/>
          </a:xfrm>
          <a:prstGeom prst="rect">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ESP32 C</a:t>
            </a:r>
            <a:r>
              <a:rPr lang="en-US" sz="1600" dirty="0">
                <a:solidFill>
                  <a:schemeClr val="tx1"/>
                </a:solidFill>
                <a:latin typeface="Times New Roman" panose="02020603050405020304" pitchFamily="18" charset="0"/>
                <a:cs typeface="Times New Roman" panose="02020603050405020304" pitchFamily="18" charset="0"/>
              </a:rPr>
              <a:t>AM</a:t>
            </a:r>
            <a:endParaRPr kumimoji="0" lang="en-I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146" name="TextBox 2"/>
          <p:cNvSpPr txBox="1">
            <a:spLocks noChangeArrowheads="1"/>
          </p:cNvSpPr>
          <p:nvPr/>
        </p:nvSpPr>
        <p:spPr bwMode="auto">
          <a:xfrm>
            <a:off x="755576" y="404664"/>
            <a:ext cx="7848872" cy="707886"/>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Block Diagram</a:t>
            </a:r>
          </a:p>
        </p:txBody>
      </p:sp>
      <p:sp>
        <p:nvSpPr>
          <p:cNvPr id="4" name="Rectangle 3">
            <a:extLst>
              <a:ext uri="{FF2B5EF4-FFF2-40B4-BE49-F238E27FC236}">
                <a16:creationId xmlns:a16="http://schemas.microsoft.com/office/drawing/2014/main" id="{F2776789-6062-45DE-ACFA-6BCE470D0BF8}"/>
              </a:ext>
            </a:extLst>
          </p:cNvPr>
          <p:cNvSpPr/>
          <p:nvPr/>
        </p:nvSpPr>
        <p:spPr bwMode="auto">
          <a:xfrm>
            <a:off x="1187624" y="1753461"/>
            <a:ext cx="1512168" cy="658515"/>
          </a:xfrm>
          <a:prstGeom prst="rect">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a:t>
            </a:r>
            <a:endParaRPr kumimoji="0" lang="en-I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49CE76B7-65D9-4F15-8D2D-3AB702AE2BFF}"/>
              </a:ext>
            </a:extLst>
          </p:cNvPr>
          <p:cNvSpPr/>
          <p:nvPr/>
        </p:nvSpPr>
        <p:spPr bwMode="auto">
          <a:xfrm>
            <a:off x="1187624" y="2951257"/>
            <a:ext cx="1512168" cy="2349950"/>
          </a:xfrm>
          <a:prstGeom prst="rect">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endParaRPr lang="en-US" sz="1600" dirty="0">
              <a:solidFill>
                <a:schemeClr val="tx1"/>
              </a:solidFill>
              <a:latin typeface="Times New Roman" panose="02020603050405020304" pitchFamily="18" charset="0"/>
              <a:cs typeface="Times New Roman" panose="02020603050405020304" pitchFamily="18" charset="0"/>
            </a:endParaRPr>
          </a:p>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endParaRPr lang="en-US" sz="1600" dirty="0">
              <a:solidFill>
                <a:schemeClr val="tx1"/>
              </a:solidFill>
              <a:latin typeface="Times New Roman" panose="02020603050405020304" pitchFamily="18" charset="0"/>
              <a:cs typeface="Times New Roman" panose="02020603050405020304" pitchFamily="18" charset="0"/>
            </a:endParaRPr>
          </a:p>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endParaRPr lang="en-US" sz="1600" dirty="0">
              <a:solidFill>
                <a:schemeClr val="tx1"/>
              </a:solidFill>
              <a:latin typeface="Times New Roman" panose="02020603050405020304" pitchFamily="18" charset="0"/>
              <a:cs typeface="Times New Roman" panose="02020603050405020304" pitchFamily="18" charset="0"/>
            </a:endParaRPr>
          </a:p>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endParaRPr lang="en-US" sz="1600" dirty="0">
              <a:solidFill>
                <a:schemeClr val="tx1"/>
              </a:solidFill>
              <a:latin typeface="Times New Roman" panose="02020603050405020304" pitchFamily="18" charset="0"/>
              <a:cs typeface="Times New Roman" panose="02020603050405020304" pitchFamily="18" charset="0"/>
            </a:endParaRPr>
          </a:p>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endParaRPr lang="en-US" sz="1600" dirty="0">
              <a:solidFill>
                <a:schemeClr val="tx1"/>
              </a:solidFill>
              <a:latin typeface="Times New Roman" panose="02020603050405020304" pitchFamily="18" charset="0"/>
              <a:cs typeface="Times New Roman" panose="02020603050405020304" pitchFamily="18" charset="0"/>
            </a:endParaRPr>
          </a:p>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endParaRPr lang="en-US" sz="1600" dirty="0">
              <a:solidFill>
                <a:schemeClr val="tx1"/>
              </a:solidFill>
              <a:latin typeface="Times New Roman" panose="02020603050405020304" pitchFamily="18" charset="0"/>
              <a:cs typeface="Times New Roman" panose="02020603050405020304" pitchFamily="18" charset="0"/>
            </a:endParaRPr>
          </a:p>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endParaRPr lang="en-US" sz="1600" dirty="0">
              <a:solidFill>
                <a:schemeClr val="tx1"/>
              </a:solidFill>
              <a:latin typeface="Times New Roman" panose="02020603050405020304" pitchFamily="18" charset="0"/>
              <a:cs typeface="Times New Roman" panose="02020603050405020304" pitchFamily="18" charset="0"/>
            </a:endParaRPr>
          </a:p>
          <a:p>
            <a:pPr marL="0" marR="0" indent="0" algn="ctr" defTabSz="449263" rtl="0" eaLnBrk="1" fontAlgn="base" latinLnBrk="0" hangingPunct="1">
              <a:spcBef>
                <a:spcPct val="0"/>
              </a:spcBef>
              <a:spcAft>
                <a:spcPct val="0"/>
              </a:spcAft>
              <a:buClr>
                <a:srgbClr val="000000"/>
              </a:buClr>
              <a:buSzPct val="100000"/>
              <a:buFont typeface="Times New Roman" pitchFamily="16" charset="0"/>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Uno</a:t>
            </a:r>
            <a:endParaRPr kumimoji="0" lang="en-I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A90A999-3E97-43A4-AD4D-6334F1920ABC}"/>
              </a:ext>
            </a:extLst>
          </p:cNvPr>
          <p:cNvSpPr/>
          <p:nvPr/>
        </p:nvSpPr>
        <p:spPr bwMode="auto">
          <a:xfrm>
            <a:off x="6300192" y="2692056"/>
            <a:ext cx="1512168" cy="658515"/>
          </a:xfrm>
          <a:prstGeom prst="rect">
            <a:avLst/>
          </a:prstGeom>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lang="en-US" sz="1600" dirty="0">
                <a:solidFill>
                  <a:schemeClr val="tx1"/>
                </a:solidFill>
                <a:latin typeface="Times New Roman" panose="02020603050405020304" pitchFamily="18" charset="0"/>
                <a:cs typeface="Times New Roman" panose="02020603050405020304" pitchFamily="18" charset="0"/>
              </a:rPr>
              <a:t>Green</a:t>
            </a: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LED</a:t>
            </a:r>
            <a:endParaRPr kumimoji="0" lang="en-IN"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E79A201-2FD8-48E0-A462-20681AD5A7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1083676" y="3435249"/>
            <a:ext cx="1720063" cy="1000263"/>
          </a:xfrm>
          <a:prstGeom prst="rect">
            <a:avLst/>
          </a:prstGeom>
        </p:spPr>
      </p:pic>
      <p:cxnSp>
        <p:nvCxnSpPr>
          <p:cNvPr id="15" name="Straight Arrow Connector 14">
            <a:extLst>
              <a:ext uri="{FF2B5EF4-FFF2-40B4-BE49-F238E27FC236}">
                <a16:creationId xmlns:a16="http://schemas.microsoft.com/office/drawing/2014/main" id="{4573F292-3FFA-4402-A6E3-6484C895046B}"/>
              </a:ext>
            </a:extLst>
          </p:cNvPr>
          <p:cNvCxnSpPr/>
          <p:nvPr/>
        </p:nvCxnSpPr>
        <p:spPr bwMode="auto">
          <a:xfrm flipV="1">
            <a:off x="2711332" y="4005064"/>
            <a:ext cx="792088" cy="1"/>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1391C72E-A193-4793-B0EA-D5E69D437144}"/>
              </a:ext>
            </a:extLst>
          </p:cNvPr>
          <p:cNvCxnSpPr>
            <a:cxnSpLocks/>
          </p:cNvCxnSpPr>
          <p:nvPr/>
        </p:nvCxnSpPr>
        <p:spPr bwMode="auto">
          <a:xfrm>
            <a:off x="5652120" y="3062663"/>
            <a:ext cx="638273" cy="0"/>
          </a:xfrm>
          <a:prstGeom prst="straightConnector1">
            <a:avLst/>
          </a:prstGeom>
          <a:solidFill>
            <a:srgbClr val="00B8FF"/>
          </a:solidFill>
          <a:ln w="9525" cap="flat" cmpd="sng" algn="ctr">
            <a:solidFill>
              <a:schemeClr val="tx1"/>
            </a:solidFill>
            <a:prstDash val="solid"/>
            <a:round/>
            <a:headEnd type="none" w="med" len="med"/>
            <a:tailEnd type="triangle"/>
          </a:ln>
          <a:effectLst/>
        </p:spPr>
      </p:cxnSp>
      <p:pic>
        <p:nvPicPr>
          <p:cNvPr id="7" name="Picture 6">
            <a:extLst>
              <a:ext uri="{FF2B5EF4-FFF2-40B4-BE49-F238E27FC236}">
                <a16:creationId xmlns:a16="http://schemas.microsoft.com/office/drawing/2014/main" id="{881DEA1F-09D6-C405-677F-DFB8BCD0A4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0098" y="2064467"/>
            <a:ext cx="1863805" cy="1863805"/>
          </a:xfrm>
          <a:prstGeom prst="rect">
            <a:avLst/>
          </a:prstGeom>
        </p:spPr>
      </p:pic>
      <p:cxnSp>
        <p:nvCxnSpPr>
          <p:cNvPr id="27" name="Straight Arrow Connector 26">
            <a:extLst>
              <a:ext uri="{FF2B5EF4-FFF2-40B4-BE49-F238E27FC236}">
                <a16:creationId xmlns:a16="http://schemas.microsoft.com/office/drawing/2014/main" id="{161EC21A-C7E5-6058-5F9C-C242938E38D9}"/>
              </a:ext>
            </a:extLst>
          </p:cNvPr>
          <p:cNvCxnSpPr>
            <a:cxnSpLocks/>
            <a:stCxn id="4" idx="2"/>
            <a:endCxn id="5" idx="0"/>
          </p:cNvCxnSpPr>
          <p:nvPr/>
        </p:nvCxnSpPr>
        <p:spPr bwMode="auto">
          <a:xfrm>
            <a:off x="1943708" y="2411976"/>
            <a:ext cx="0" cy="539281"/>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
        <p:nvSpPr>
          <p:cNvPr id="12" name="TextBox 11">
            <a:extLst>
              <a:ext uri="{FF2B5EF4-FFF2-40B4-BE49-F238E27FC236}">
                <a16:creationId xmlns:a16="http://schemas.microsoft.com/office/drawing/2014/main" id="{2D57B3D8-B373-01A4-018D-B71A618086BA}"/>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13</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46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707886"/>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Flowchart</a:t>
            </a:r>
          </a:p>
        </p:txBody>
      </p:sp>
      <p:sp>
        <p:nvSpPr>
          <p:cNvPr id="3" name="Rectangle: Rounded Corners 2">
            <a:extLst>
              <a:ext uri="{FF2B5EF4-FFF2-40B4-BE49-F238E27FC236}">
                <a16:creationId xmlns:a16="http://schemas.microsoft.com/office/drawing/2014/main" id="{41DE4FD0-DF4E-4C97-B94C-09613233FF8E}"/>
              </a:ext>
            </a:extLst>
          </p:cNvPr>
          <p:cNvSpPr/>
          <p:nvPr/>
        </p:nvSpPr>
        <p:spPr>
          <a:xfrm>
            <a:off x="2123728" y="1747153"/>
            <a:ext cx="4574470" cy="390617"/>
          </a:xfrm>
          <a:prstGeom prst="round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Initialize Webcam ESP32 CAM </a:t>
            </a:r>
            <a:endParaRPr lang="en-IN" sz="1600" dirty="0">
              <a:latin typeface="Times New Roman" panose="02020603050405020304" pitchFamily="18" charset="0"/>
              <a:cs typeface="Times New Roman" panose="02020603050405020304" pitchFamily="18" charset="0"/>
            </a:endParaRPr>
          </a:p>
        </p:txBody>
      </p:sp>
      <p:sp>
        <p:nvSpPr>
          <p:cNvPr id="4" name="Diamond 3">
            <a:extLst>
              <a:ext uri="{FF2B5EF4-FFF2-40B4-BE49-F238E27FC236}">
                <a16:creationId xmlns:a16="http://schemas.microsoft.com/office/drawing/2014/main" id="{C2ED63A3-9FBC-4FFA-9DB4-0152D6B48291}"/>
              </a:ext>
            </a:extLst>
          </p:cNvPr>
          <p:cNvSpPr/>
          <p:nvPr/>
        </p:nvSpPr>
        <p:spPr>
          <a:xfrm>
            <a:off x="2284761" y="2664710"/>
            <a:ext cx="4252404" cy="725010"/>
          </a:xfrm>
          <a:prstGeom prst="diamond">
            <a:avLst/>
          </a:prstGeom>
          <a:ln w="1270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Goudy Old Style"/>
                <a:ea typeface="+mn-ea"/>
                <a:cs typeface="+mn-cs"/>
              </a:rPr>
              <a:t>Mask Detected </a:t>
            </a:r>
            <a:endParaRPr kumimoji="0" lang="en-IN" sz="1800" b="0" i="0" u="none" strike="noStrike" kern="0" cap="none" spc="0" normalizeH="0" baseline="0" noProof="0" dirty="0">
              <a:ln>
                <a:noFill/>
              </a:ln>
              <a:solidFill>
                <a:prstClr val="black"/>
              </a:solidFill>
              <a:effectLst/>
              <a:uLnTx/>
              <a:uFillTx/>
              <a:latin typeface="Goudy Old Style"/>
              <a:ea typeface="+mn-ea"/>
              <a:cs typeface="+mn-cs"/>
            </a:endParaRPr>
          </a:p>
        </p:txBody>
      </p:sp>
      <p:sp>
        <p:nvSpPr>
          <p:cNvPr id="6" name="Rectangle: Rounded Corners 5">
            <a:extLst>
              <a:ext uri="{FF2B5EF4-FFF2-40B4-BE49-F238E27FC236}">
                <a16:creationId xmlns:a16="http://schemas.microsoft.com/office/drawing/2014/main" id="{8833B6DF-3710-47CF-A969-8B5B81F492C5}"/>
              </a:ext>
            </a:extLst>
          </p:cNvPr>
          <p:cNvSpPr/>
          <p:nvPr/>
        </p:nvSpPr>
        <p:spPr>
          <a:xfrm>
            <a:off x="2123728" y="3916660"/>
            <a:ext cx="4574470" cy="390617"/>
          </a:xfrm>
          <a:prstGeom prst="roundRect">
            <a:avLst/>
          </a:prstGeom>
          <a:ln w="1270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kern="0" dirty="0">
                <a:solidFill>
                  <a:srgbClr val="00B050"/>
                </a:solidFill>
                <a:latin typeface="Goudy Old Style"/>
                <a:ea typeface="+mn-ea"/>
                <a:cs typeface="+mn-cs"/>
              </a:rPr>
              <a:t>Green LED</a:t>
            </a:r>
            <a:r>
              <a:rPr kumimoji="0" lang="en-US" sz="1800" b="0" i="0" u="none" strike="noStrike" kern="0" cap="none" spc="0" normalizeH="0" baseline="0" noProof="0" dirty="0">
                <a:ln>
                  <a:noFill/>
                </a:ln>
                <a:solidFill>
                  <a:srgbClr val="00B050"/>
                </a:solidFill>
                <a:effectLst/>
                <a:uLnTx/>
                <a:uFillTx/>
                <a:latin typeface="Goudy Old Style"/>
                <a:ea typeface="+mn-ea"/>
                <a:cs typeface="+mn-cs"/>
              </a:rPr>
              <a:t> </a:t>
            </a:r>
            <a:endParaRPr kumimoji="0" lang="en-IN" sz="1800" b="0" i="0" u="none" strike="noStrike" kern="0" cap="none" spc="0" normalizeH="0" baseline="0" noProof="0" dirty="0">
              <a:ln>
                <a:noFill/>
              </a:ln>
              <a:solidFill>
                <a:srgbClr val="00B050"/>
              </a:solidFill>
              <a:effectLst/>
              <a:uLnTx/>
              <a:uFillTx/>
              <a:latin typeface="Goudy Old Style"/>
              <a:ea typeface="+mn-ea"/>
              <a:cs typeface="+mn-cs"/>
            </a:endParaRPr>
          </a:p>
        </p:txBody>
      </p:sp>
      <p:cxnSp>
        <p:nvCxnSpPr>
          <p:cNvPr id="9" name="Straight Arrow Connector 8">
            <a:extLst>
              <a:ext uri="{FF2B5EF4-FFF2-40B4-BE49-F238E27FC236}">
                <a16:creationId xmlns:a16="http://schemas.microsoft.com/office/drawing/2014/main" id="{3F552E81-5E10-4149-83A3-90F5C92A7B81}"/>
              </a:ext>
            </a:extLst>
          </p:cNvPr>
          <p:cNvCxnSpPr>
            <a:stCxn id="3" idx="2"/>
            <a:endCxn id="4" idx="0"/>
          </p:cNvCxnSpPr>
          <p:nvPr/>
        </p:nvCxnSpPr>
        <p:spPr bwMode="auto">
          <a:xfrm>
            <a:off x="4410963" y="2137770"/>
            <a:ext cx="0" cy="526940"/>
          </a:xfrm>
          <a:prstGeom prst="straightConnector1">
            <a:avLst/>
          </a:prstGeom>
          <a:solidFill>
            <a:srgbClr val="00B8FF"/>
          </a:solidFill>
          <a:ln w="952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B3103D89-A929-478A-8794-4AABB820AF14}"/>
              </a:ext>
            </a:extLst>
          </p:cNvPr>
          <p:cNvCxnSpPr>
            <a:stCxn id="4" idx="2"/>
            <a:endCxn id="6" idx="0"/>
          </p:cNvCxnSpPr>
          <p:nvPr/>
        </p:nvCxnSpPr>
        <p:spPr bwMode="auto">
          <a:xfrm>
            <a:off x="4410963" y="3389720"/>
            <a:ext cx="0" cy="526940"/>
          </a:xfrm>
          <a:prstGeom prst="straightConnector1">
            <a:avLst/>
          </a:prstGeom>
          <a:solidFill>
            <a:srgbClr val="00B8FF"/>
          </a:solidFill>
          <a:ln w="9525" cap="flat" cmpd="sng" algn="ctr">
            <a:solidFill>
              <a:schemeClr val="tx1"/>
            </a:solidFill>
            <a:prstDash val="solid"/>
            <a:round/>
            <a:headEnd type="none" w="med" len="med"/>
            <a:tailEnd type="triangle"/>
          </a:ln>
          <a:effectLst/>
        </p:spPr>
      </p:cxnSp>
      <p:sp>
        <p:nvSpPr>
          <p:cNvPr id="40" name="TextBox 39">
            <a:extLst>
              <a:ext uri="{FF2B5EF4-FFF2-40B4-BE49-F238E27FC236}">
                <a16:creationId xmlns:a16="http://schemas.microsoft.com/office/drawing/2014/main" id="{8469328B-A475-427F-B727-FA8F3EE981BD}"/>
              </a:ext>
            </a:extLst>
          </p:cNvPr>
          <p:cNvSpPr txBox="1"/>
          <p:nvPr/>
        </p:nvSpPr>
        <p:spPr>
          <a:xfrm>
            <a:off x="4420233" y="3444908"/>
            <a:ext cx="1053831" cy="338554"/>
          </a:xfrm>
          <a:prstGeom prst="rect">
            <a:avLst/>
          </a:prstGeom>
          <a:noFill/>
        </p:spPr>
        <p:txBody>
          <a:bodyPr wrap="square" rtlCol="0">
            <a:spAutoFit/>
          </a:bodyPr>
          <a:lstStyle/>
          <a:p>
            <a:r>
              <a:rPr lang="en-US" sz="1600" dirty="0">
                <a:solidFill>
                  <a:schemeClr val="tx1"/>
                </a:solidFill>
                <a:latin typeface="Times New Roman" panose="02020603050405020304" pitchFamily="18" charset="0"/>
                <a:cs typeface="Times New Roman" panose="02020603050405020304" pitchFamily="18" charset="0"/>
              </a:rPr>
              <a:t>Yes</a:t>
            </a: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5E0114E-9F03-C230-75A7-2B6E925E2561}"/>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14</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865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569660"/>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Design of  Proposed System:</a:t>
            </a:r>
          </a:p>
          <a:p>
            <a:pPr marL="514350" indent="-514350">
              <a:buAutoNum type="arabicPeriod"/>
            </a:pPr>
            <a:endParaRPr lang="en-IN" sz="2800" dirty="0">
              <a:solidFill>
                <a:schemeClr val="tx1"/>
              </a:solidFill>
              <a:latin typeface="Times New Roman" pitchFamily="16" charset="0"/>
              <a:cs typeface="Times New Roman" pitchFamily="16" charset="0"/>
            </a:endParaRPr>
          </a:p>
          <a:p>
            <a:r>
              <a:rPr lang="en-IN" sz="2800" dirty="0">
                <a:solidFill>
                  <a:schemeClr val="tx1"/>
                </a:solidFill>
                <a:latin typeface="Times New Roman" pitchFamily="16" charset="0"/>
                <a:cs typeface="Times New Roman" pitchFamily="16" charset="0"/>
              </a:rPr>
              <a:t>Hardware Design: Circuit Diagram</a:t>
            </a:r>
          </a:p>
        </p:txBody>
      </p:sp>
      <p:pic>
        <p:nvPicPr>
          <p:cNvPr id="3" name="Picture 2">
            <a:extLst>
              <a:ext uri="{FF2B5EF4-FFF2-40B4-BE49-F238E27FC236}">
                <a16:creationId xmlns:a16="http://schemas.microsoft.com/office/drawing/2014/main" id="{C936519D-55F2-0D82-8963-A231B85A5DA0}"/>
              </a:ext>
            </a:extLst>
          </p:cNvPr>
          <p:cNvPicPr>
            <a:picLocks noChangeAspect="1"/>
          </p:cNvPicPr>
          <p:nvPr/>
        </p:nvPicPr>
        <p:blipFill>
          <a:blip r:embed="rId2"/>
          <a:stretch>
            <a:fillRect/>
          </a:stretch>
        </p:blipFill>
        <p:spPr>
          <a:xfrm>
            <a:off x="1691680" y="2204864"/>
            <a:ext cx="5256188" cy="3027500"/>
          </a:xfrm>
          <a:prstGeom prst="rect">
            <a:avLst/>
          </a:prstGeom>
        </p:spPr>
      </p:pic>
      <p:sp>
        <p:nvSpPr>
          <p:cNvPr id="4" name="TextBox 3">
            <a:extLst>
              <a:ext uri="{FF2B5EF4-FFF2-40B4-BE49-F238E27FC236}">
                <a16:creationId xmlns:a16="http://schemas.microsoft.com/office/drawing/2014/main" id="{45DA8962-D2F6-09B7-684B-0B6AE86C1518}"/>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15</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441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138773"/>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ESP32 Programming Circuit:</a:t>
            </a:r>
          </a:p>
          <a:p>
            <a:endParaRPr lang="en-IN" sz="2800" dirty="0">
              <a:solidFill>
                <a:schemeClr val="tx1"/>
              </a:solidFill>
              <a:latin typeface="Times New Roman" pitchFamily="16" charset="0"/>
              <a:cs typeface="Times New Roman" pitchFamily="16" charset="0"/>
            </a:endParaRPr>
          </a:p>
        </p:txBody>
      </p:sp>
      <p:pic>
        <p:nvPicPr>
          <p:cNvPr id="4" name="Picture 3">
            <a:extLst>
              <a:ext uri="{FF2B5EF4-FFF2-40B4-BE49-F238E27FC236}">
                <a16:creationId xmlns:a16="http://schemas.microsoft.com/office/drawing/2014/main" id="{F341DB8C-707A-1269-AAF6-8057AC1262C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722" r="35706" b="14995"/>
          <a:stretch/>
        </p:blipFill>
        <p:spPr bwMode="auto">
          <a:xfrm>
            <a:off x="1763688" y="1601916"/>
            <a:ext cx="4962877" cy="3181707"/>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B8253330-3674-200B-42C8-0994EBC5BEAF}"/>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16</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763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938992"/>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Software Details: Algorithms</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IN" sz="2000" dirty="0">
                <a:solidFill>
                  <a:schemeClr val="tx1"/>
                </a:solidFill>
                <a:latin typeface="Times New Roman" pitchFamily="16" charset="0"/>
                <a:cs typeface="Times New Roman" pitchFamily="16" charset="0"/>
              </a:rPr>
              <a:t>A source code is required for this system to work. This code is needed to insert in ESP32 CAM module using Arduino Uno.</a:t>
            </a:r>
          </a:p>
        </p:txBody>
      </p:sp>
      <p:sp>
        <p:nvSpPr>
          <p:cNvPr id="3" name="TextBox 2">
            <a:extLst>
              <a:ext uri="{FF2B5EF4-FFF2-40B4-BE49-F238E27FC236}">
                <a16:creationId xmlns:a16="http://schemas.microsoft.com/office/drawing/2014/main" id="{5DFE970E-D952-C336-A5CD-A70FD93582BB}"/>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17</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512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569660"/>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Development of System:</a:t>
            </a:r>
          </a:p>
          <a:p>
            <a:pPr marL="514350" indent="-514350">
              <a:buAutoNum type="arabicPeriod"/>
            </a:pPr>
            <a:endParaRPr lang="en-IN" sz="2800" dirty="0">
              <a:solidFill>
                <a:schemeClr val="tx1"/>
              </a:solidFill>
              <a:latin typeface="Times New Roman" pitchFamily="16" charset="0"/>
              <a:cs typeface="Times New Roman" pitchFamily="16" charset="0"/>
            </a:endParaRPr>
          </a:p>
          <a:p>
            <a:r>
              <a:rPr lang="en-IN" sz="2800" dirty="0">
                <a:solidFill>
                  <a:schemeClr val="tx1"/>
                </a:solidFill>
                <a:latin typeface="Times New Roman" pitchFamily="16" charset="0"/>
                <a:cs typeface="Times New Roman" pitchFamily="16" charset="0"/>
              </a:rPr>
              <a:t>Simulation</a:t>
            </a:r>
          </a:p>
        </p:txBody>
      </p:sp>
      <p:sp>
        <p:nvSpPr>
          <p:cNvPr id="5" name="TextBox 4">
            <a:extLst>
              <a:ext uri="{FF2B5EF4-FFF2-40B4-BE49-F238E27FC236}">
                <a16:creationId xmlns:a16="http://schemas.microsoft.com/office/drawing/2014/main" id="{F597AB87-D25C-E720-48BB-008F291CE0CD}"/>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18</a:t>
            </a:r>
            <a:endParaRPr lang="en-IN" sz="1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944CB54-C1E9-CD11-2B7C-F297FAB2027B}"/>
              </a:ext>
            </a:extLst>
          </p:cNvPr>
          <p:cNvPicPr>
            <a:picLocks noChangeAspect="1"/>
          </p:cNvPicPr>
          <p:nvPr/>
        </p:nvPicPr>
        <p:blipFill rotWithShape="1">
          <a:blip r:embed="rId2"/>
          <a:srcRect l="12200" t="16401" r="18501" b="16401"/>
          <a:stretch/>
        </p:blipFill>
        <p:spPr>
          <a:xfrm>
            <a:off x="1403648" y="2060848"/>
            <a:ext cx="6336704" cy="3456384"/>
          </a:xfrm>
          <a:prstGeom prst="rect">
            <a:avLst/>
          </a:prstGeom>
        </p:spPr>
      </p:pic>
    </p:spTree>
    <p:extLst>
      <p:ext uri="{BB962C8B-B14F-4D97-AF65-F5344CB8AC3E}">
        <p14:creationId xmlns:p14="http://schemas.microsoft.com/office/powerpoint/2010/main" val="3668358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32343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Applications of Project:</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In Companies and Factories </a:t>
            </a:r>
          </a:p>
        </p:txBody>
      </p:sp>
      <p:pic>
        <p:nvPicPr>
          <p:cNvPr id="3" name="Picture 2">
            <a:extLst>
              <a:ext uri="{FF2B5EF4-FFF2-40B4-BE49-F238E27FC236}">
                <a16:creationId xmlns:a16="http://schemas.microsoft.com/office/drawing/2014/main" id="{9B27A17E-BA0B-4C41-8A3B-31C6C2A467E8}"/>
              </a:ext>
            </a:extLst>
          </p:cNvPr>
          <p:cNvPicPr>
            <a:picLocks noChangeAspect="1"/>
          </p:cNvPicPr>
          <p:nvPr/>
        </p:nvPicPr>
        <p:blipFill>
          <a:blip r:embed="rId2" cstate="print">
            <a:extLst>
              <a:ext uri="{28A0092B-C50C-407E-A947-70E740481C1C}">
                <a14:useLocalDpi xmlns:a14="http://schemas.microsoft.com/office/drawing/2010/main" val="0"/>
              </a:ext>
            </a:extLst>
          </a:blip>
          <a:srcRect t="1584" b="1584"/>
          <a:stretch/>
        </p:blipFill>
        <p:spPr>
          <a:xfrm>
            <a:off x="1939398" y="2365355"/>
            <a:ext cx="5265204" cy="3396209"/>
          </a:xfrm>
          <a:prstGeom prst="rect">
            <a:avLst/>
          </a:prstGeom>
        </p:spPr>
      </p:pic>
      <p:sp>
        <p:nvSpPr>
          <p:cNvPr id="4" name="TextBox 3">
            <a:extLst>
              <a:ext uri="{FF2B5EF4-FFF2-40B4-BE49-F238E27FC236}">
                <a16:creationId xmlns:a16="http://schemas.microsoft.com/office/drawing/2014/main" id="{4762BF94-78A2-E866-E5EB-5A0AC666670E}"/>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19</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938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32343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Applications of Project:</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In Schools and Colleges</a:t>
            </a:r>
          </a:p>
        </p:txBody>
      </p:sp>
      <p:pic>
        <p:nvPicPr>
          <p:cNvPr id="3" name="Picture 2">
            <a:extLst>
              <a:ext uri="{FF2B5EF4-FFF2-40B4-BE49-F238E27FC236}">
                <a16:creationId xmlns:a16="http://schemas.microsoft.com/office/drawing/2014/main" id="{9B27A17E-BA0B-4C41-8A3B-31C6C2A467E8}"/>
              </a:ext>
            </a:extLst>
          </p:cNvPr>
          <p:cNvPicPr>
            <a:picLocks noChangeAspect="1"/>
          </p:cNvPicPr>
          <p:nvPr/>
        </p:nvPicPr>
        <p:blipFill rotWithShape="1">
          <a:blip r:embed="rId2">
            <a:extLst>
              <a:ext uri="{28A0092B-C50C-407E-A947-70E740481C1C}">
                <a14:useLocalDpi xmlns:a14="http://schemas.microsoft.com/office/drawing/2010/main" val="0"/>
              </a:ext>
            </a:extLst>
          </a:blip>
          <a:srcRect l="8885" t="485" r="3800" b="-485"/>
          <a:stretch/>
        </p:blipFill>
        <p:spPr>
          <a:xfrm>
            <a:off x="1939398" y="2365355"/>
            <a:ext cx="5265204" cy="3396209"/>
          </a:xfrm>
          <a:prstGeom prst="rect">
            <a:avLst/>
          </a:prstGeom>
        </p:spPr>
      </p:pic>
      <p:sp>
        <p:nvSpPr>
          <p:cNvPr id="4" name="TextBox 3">
            <a:extLst>
              <a:ext uri="{FF2B5EF4-FFF2-40B4-BE49-F238E27FC236}">
                <a16:creationId xmlns:a16="http://schemas.microsoft.com/office/drawing/2014/main" id="{0B692C14-D8DB-E7AF-E2F6-AF756C27D823}"/>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20</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223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387731"/>
            <a:ext cx="7848872" cy="132343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Applications of Project:</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In Hospitals</a:t>
            </a:r>
          </a:p>
        </p:txBody>
      </p:sp>
      <p:pic>
        <p:nvPicPr>
          <p:cNvPr id="3" name="Picture 2">
            <a:extLst>
              <a:ext uri="{FF2B5EF4-FFF2-40B4-BE49-F238E27FC236}">
                <a16:creationId xmlns:a16="http://schemas.microsoft.com/office/drawing/2014/main" id="{9B27A17E-BA0B-4C41-8A3B-31C6C2A467E8}"/>
              </a:ext>
            </a:extLst>
          </p:cNvPr>
          <p:cNvPicPr>
            <a:picLocks noChangeAspect="1"/>
          </p:cNvPicPr>
          <p:nvPr/>
        </p:nvPicPr>
        <p:blipFill rotWithShape="1">
          <a:blip r:embed="rId2">
            <a:extLst>
              <a:ext uri="{28A0092B-C50C-407E-A947-70E740481C1C}">
                <a14:useLocalDpi xmlns:a14="http://schemas.microsoft.com/office/drawing/2010/main" val="0"/>
              </a:ext>
            </a:extLst>
          </a:blip>
          <a:srcRect l="10066" t="485" r="2728" b="-485"/>
          <a:stretch/>
        </p:blipFill>
        <p:spPr>
          <a:xfrm>
            <a:off x="1939398" y="2365355"/>
            <a:ext cx="5265204" cy="3396209"/>
          </a:xfrm>
          <a:prstGeom prst="rect">
            <a:avLst/>
          </a:prstGeom>
        </p:spPr>
      </p:pic>
      <p:sp>
        <p:nvSpPr>
          <p:cNvPr id="4" name="TextBox 3">
            <a:extLst>
              <a:ext uri="{FF2B5EF4-FFF2-40B4-BE49-F238E27FC236}">
                <a16:creationId xmlns:a16="http://schemas.microsoft.com/office/drawing/2014/main" id="{FCA099FE-611C-3ABE-0113-F94876949158}"/>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21</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205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1323439"/>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Applications of Project:</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IN" sz="2000" dirty="0">
                <a:solidFill>
                  <a:schemeClr val="tx1"/>
                </a:solidFill>
                <a:latin typeface="Times New Roman" pitchFamily="16" charset="0"/>
                <a:cs typeface="Times New Roman" pitchFamily="16" charset="0"/>
              </a:rPr>
              <a:t>In Shops and Malls  </a:t>
            </a:r>
          </a:p>
        </p:txBody>
      </p:sp>
      <p:pic>
        <p:nvPicPr>
          <p:cNvPr id="3" name="Picture 2">
            <a:extLst>
              <a:ext uri="{FF2B5EF4-FFF2-40B4-BE49-F238E27FC236}">
                <a16:creationId xmlns:a16="http://schemas.microsoft.com/office/drawing/2014/main" id="{9B27A17E-BA0B-4C41-8A3B-31C6C2A467E8}"/>
              </a:ext>
            </a:extLst>
          </p:cNvPr>
          <p:cNvPicPr>
            <a:picLocks noChangeAspect="1"/>
          </p:cNvPicPr>
          <p:nvPr/>
        </p:nvPicPr>
        <p:blipFill>
          <a:blip r:embed="rId2" cstate="print">
            <a:extLst>
              <a:ext uri="{28A0092B-C50C-407E-A947-70E740481C1C}">
                <a14:useLocalDpi xmlns:a14="http://schemas.microsoft.com/office/drawing/2010/main" val="0"/>
              </a:ext>
            </a:extLst>
          </a:blip>
          <a:srcRect l="6397" r="6397"/>
          <a:stretch/>
        </p:blipFill>
        <p:spPr>
          <a:xfrm>
            <a:off x="1939398" y="2365355"/>
            <a:ext cx="5265204" cy="3396209"/>
          </a:xfrm>
          <a:prstGeom prst="rect">
            <a:avLst/>
          </a:prstGeom>
        </p:spPr>
      </p:pic>
      <p:sp>
        <p:nvSpPr>
          <p:cNvPr id="4" name="TextBox 3">
            <a:extLst>
              <a:ext uri="{FF2B5EF4-FFF2-40B4-BE49-F238E27FC236}">
                <a16:creationId xmlns:a16="http://schemas.microsoft.com/office/drawing/2014/main" id="{889C26CF-B707-2835-BF42-3E4CBE1EDDF2}"/>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23</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902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353864"/>
            <a:ext cx="7848872" cy="707886"/>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Cost Estimation</a:t>
            </a:r>
          </a:p>
        </p:txBody>
      </p:sp>
      <p:graphicFrame>
        <p:nvGraphicFramePr>
          <p:cNvPr id="2" name="Table 2">
            <a:extLst>
              <a:ext uri="{FF2B5EF4-FFF2-40B4-BE49-F238E27FC236}">
                <a16:creationId xmlns:a16="http://schemas.microsoft.com/office/drawing/2014/main" id="{6A5F23BD-AC93-3FC9-5C96-BF987211CF95}"/>
              </a:ext>
            </a:extLst>
          </p:cNvPr>
          <p:cNvGraphicFramePr>
            <a:graphicFrameLocks noGrp="1"/>
          </p:cNvGraphicFramePr>
          <p:nvPr>
            <p:extLst>
              <p:ext uri="{D42A27DB-BD31-4B8C-83A1-F6EECF244321}">
                <p14:modId xmlns:p14="http://schemas.microsoft.com/office/powerpoint/2010/main" val="35273288"/>
              </p:ext>
            </p:extLst>
          </p:nvPr>
        </p:nvGraphicFramePr>
        <p:xfrm>
          <a:off x="1632012" y="1689893"/>
          <a:ext cx="6096000" cy="3337560"/>
        </p:xfrm>
        <a:graphic>
          <a:graphicData uri="http://schemas.openxmlformats.org/drawingml/2006/table">
            <a:tbl>
              <a:tblPr firstRow="1" bandRow="1">
                <a:tableStyleId>{5C22544A-7EE6-4342-B048-85BDC9FD1C3A}</a:tableStyleId>
              </a:tblPr>
              <a:tblGrid>
                <a:gridCol w="779748">
                  <a:extLst>
                    <a:ext uri="{9D8B030D-6E8A-4147-A177-3AD203B41FA5}">
                      <a16:colId xmlns:a16="http://schemas.microsoft.com/office/drawing/2014/main" val="2857395289"/>
                    </a:ext>
                  </a:extLst>
                </a:gridCol>
                <a:gridCol w="3060340">
                  <a:extLst>
                    <a:ext uri="{9D8B030D-6E8A-4147-A177-3AD203B41FA5}">
                      <a16:colId xmlns:a16="http://schemas.microsoft.com/office/drawing/2014/main" val="2566692130"/>
                    </a:ext>
                  </a:extLst>
                </a:gridCol>
                <a:gridCol w="2255912">
                  <a:extLst>
                    <a:ext uri="{9D8B030D-6E8A-4147-A177-3AD203B41FA5}">
                      <a16:colId xmlns:a16="http://schemas.microsoft.com/office/drawing/2014/main" val="946503113"/>
                    </a:ext>
                  </a:extLst>
                </a:gridCol>
              </a:tblGrid>
              <a:tr h="370840">
                <a:tc>
                  <a:txBody>
                    <a:bodyPr/>
                    <a:lstStyle/>
                    <a:p>
                      <a:r>
                        <a:rPr lang="en-US" sz="1400" dirty="0">
                          <a:latin typeface="Times New Roman" panose="02020603050405020304" pitchFamily="18" charset="0"/>
                          <a:cs typeface="Times New Roman" panose="02020603050405020304" pitchFamily="18" charset="0"/>
                        </a:rPr>
                        <a:t>Sr . No.</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Component Name</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Price (Rs)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63600136"/>
                  </a:ext>
                </a:extLst>
              </a:tr>
              <a:tr h="370840">
                <a:tc>
                  <a:txBody>
                    <a:bodyPr/>
                    <a:lstStyle/>
                    <a:p>
                      <a:r>
                        <a:rPr lang="en-US" sz="1400" dirty="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Arduino Uno</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866</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30845615"/>
                  </a:ext>
                </a:extLst>
              </a:tr>
              <a:tr h="370840">
                <a:tc>
                  <a:txBody>
                    <a:bodyPr/>
                    <a:lstStyle/>
                    <a:p>
                      <a:r>
                        <a:rPr lang="en-US" sz="1400" dirty="0">
                          <a:latin typeface="Times New Roman" panose="02020603050405020304" pitchFamily="18" charset="0"/>
                          <a:cs typeface="Times New Roman" panose="02020603050405020304" pitchFamily="18" charset="0"/>
                        </a:rPr>
                        <a:t>2.</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ESP32 CAM</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790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29673697"/>
                  </a:ext>
                </a:extLst>
              </a:tr>
              <a:tr h="370840">
                <a:tc>
                  <a:txBody>
                    <a:bodyPr/>
                    <a:lstStyle/>
                    <a:p>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9V Battery</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20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94048071"/>
                  </a:ext>
                </a:extLst>
              </a:tr>
              <a:tr h="370840">
                <a:tc>
                  <a:txBody>
                    <a:bodyPr/>
                    <a:lstStyle/>
                    <a:p>
                      <a:r>
                        <a:rPr lang="en-US" sz="1400" dirty="0">
                          <a:latin typeface="Times New Roman" panose="02020603050405020304" pitchFamily="18" charset="0"/>
                          <a:cs typeface="Times New Roman" panose="02020603050405020304" pitchFamily="18" charset="0"/>
                        </a:rPr>
                        <a:t>4.</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Green LED</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0106393"/>
                  </a:ext>
                </a:extLst>
              </a:tr>
              <a:tr h="370840">
                <a:tc>
                  <a:txBody>
                    <a:bodyPr/>
                    <a:lstStyle/>
                    <a:p>
                      <a:r>
                        <a:rPr lang="en-US" sz="1400" dirty="0">
                          <a:latin typeface="Times New Roman" panose="02020603050405020304" pitchFamily="18" charset="0"/>
                          <a:cs typeface="Times New Roman" panose="02020603050405020304" pitchFamily="18" charset="0"/>
                        </a:rPr>
                        <a:t>5.</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Zero PCB</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40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7213887"/>
                  </a:ext>
                </a:extLst>
              </a:tr>
              <a:tr h="370840">
                <a:tc>
                  <a:txBody>
                    <a:bodyPr/>
                    <a:lstStyle/>
                    <a:p>
                      <a:r>
                        <a:rPr lang="en-US" sz="1400" dirty="0">
                          <a:latin typeface="Times New Roman" panose="02020603050405020304" pitchFamily="18" charset="0"/>
                          <a:cs typeface="Times New Roman" panose="02020603050405020304" pitchFamily="18" charset="0"/>
                        </a:rPr>
                        <a:t>6.</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Battery Connector</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10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17643201"/>
                  </a:ext>
                </a:extLst>
              </a:tr>
              <a:tr h="370840">
                <a:tc>
                  <a:txBody>
                    <a:bodyPr/>
                    <a:lstStyle/>
                    <a:p>
                      <a:r>
                        <a:rPr lang="en-US" sz="1400" dirty="0">
                          <a:latin typeface="Times New Roman" panose="02020603050405020304" pitchFamily="18" charset="0"/>
                          <a:cs typeface="Times New Roman" panose="02020603050405020304" pitchFamily="18" charset="0"/>
                        </a:rPr>
                        <a:t>7.</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Connecting Wires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40</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83778034"/>
                  </a:ext>
                </a:extLst>
              </a:tr>
              <a:tr h="370840">
                <a:tc>
                  <a:txBody>
                    <a:bodyPr/>
                    <a:lstStyle/>
                    <a:p>
                      <a:r>
                        <a:rPr lang="en-US" sz="1400" dirty="0">
                          <a:latin typeface="Times New Roman" panose="02020603050405020304" pitchFamily="18" charset="0"/>
                          <a:cs typeface="Times New Roman" panose="02020603050405020304" pitchFamily="18" charset="0"/>
                        </a:rPr>
                        <a:t>8.</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Adapter</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75</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43902918"/>
                  </a:ext>
                </a:extLst>
              </a:tr>
            </a:tbl>
          </a:graphicData>
        </a:graphic>
      </p:graphicFrame>
      <p:sp>
        <p:nvSpPr>
          <p:cNvPr id="3" name="TextBox 2">
            <a:extLst>
              <a:ext uri="{FF2B5EF4-FFF2-40B4-BE49-F238E27FC236}">
                <a16:creationId xmlns:a16="http://schemas.microsoft.com/office/drawing/2014/main" id="{80988D72-FF39-D63C-D554-35BD538387D1}"/>
              </a:ext>
            </a:extLst>
          </p:cNvPr>
          <p:cNvSpPr txBox="1"/>
          <p:nvPr/>
        </p:nvSpPr>
        <p:spPr>
          <a:xfrm>
            <a:off x="755576" y="5314351"/>
            <a:ext cx="6912768" cy="400110"/>
          </a:xfrm>
          <a:prstGeom prst="rect">
            <a:avLst/>
          </a:prstGeom>
          <a:noFill/>
        </p:spPr>
        <p:txBody>
          <a:bodyPr wrap="square" rtlCol="0">
            <a:spAutoFit/>
          </a:bodyPr>
          <a:lstStyle/>
          <a:p>
            <a:r>
              <a:rPr lang="en-US" sz="2000" dirty="0">
                <a:solidFill>
                  <a:schemeClr val="tx1"/>
                </a:solidFill>
                <a:latin typeface="Times New Roman" panose="02020603050405020304" pitchFamily="18" charset="0"/>
                <a:cs typeface="Times New Roman" panose="02020603050405020304" pitchFamily="18" charset="0"/>
              </a:rPr>
              <a:t>        Total price of this project is 1840 Rs.</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621C268-D47C-165A-F6D1-4D6D45682CE3}"/>
              </a:ext>
            </a:extLst>
          </p:cNvPr>
          <p:cNvSpPr txBox="1"/>
          <p:nvPr/>
        </p:nvSpPr>
        <p:spPr>
          <a:xfrm>
            <a:off x="503548" y="6381025"/>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3</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023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2862322"/>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Advantages</a:t>
            </a:r>
            <a:r>
              <a:rPr lang="en-IN" sz="2800" dirty="0">
                <a:solidFill>
                  <a:schemeClr val="tx1"/>
                </a:solidFill>
                <a:latin typeface="Times New Roman" pitchFamily="16" charset="0"/>
                <a:cs typeface="Times New Roman" pitchFamily="16" charset="0"/>
              </a:rPr>
              <a:t> </a:t>
            </a:r>
          </a:p>
          <a:p>
            <a:endParaRPr lang="en-IN"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US" sz="2000" dirty="0">
                <a:solidFill>
                  <a:schemeClr val="tx1"/>
                </a:solidFill>
                <a:latin typeface="Times New Roman" pitchFamily="16" charset="0"/>
                <a:cs typeface="Times New Roman" pitchFamily="16" charset="0"/>
              </a:rPr>
              <a:t>It is small in size.</a:t>
            </a:r>
          </a:p>
          <a:p>
            <a:pPr marL="342900" indent="-342900">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US" sz="2000" dirty="0">
                <a:solidFill>
                  <a:schemeClr val="tx1"/>
                </a:solidFill>
                <a:latin typeface="Times New Roman" pitchFamily="16" charset="0"/>
                <a:cs typeface="Times New Roman" pitchFamily="16" charset="0"/>
              </a:rPr>
              <a:t>Highly efficient and reliable.</a:t>
            </a:r>
          </a:p>
          <a:p>
            <a:pPr marL="342900" indent="-342900">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buFont typeface="Arial" panose="020B0604020202020204" pitchFamily="34" charset="0"/>
              <a:buChar char="•"/>
            </a:pPr>
            <a:r>
              <a:rPr lang="en-US" sz="2000" dirty="0">
                <a:solidFill>
                  <a:schemeClr val="tx1"/>
                </a:solidFill>
                <a:latin typeface="Times New Roman" pitchFamily="16" charset="0"/>
                <a:cs typeface="Times New Roman" pitchFamily="16" charset="0"/>
              </a:rPr>
              <a:t>Autonomous.</a:t>
            </a:r>
          </a:p>
        </p:txBody>
      </p:sp>
      <p:sp>
        <p:nvSpPr>
          <p:cNvPr id="3" name="TextBox 2">
            <a:extLst>
              <a:ext uri="{FF2B5EF4-FFF2-40B4-BE49-F238E27FC236}">
                <a16:creationId xmlns:a16="http://schemas.microsoft.com/office/drawing/2014/main" id="{482BDD4E-8929-17B8-921B-CE16A5E71FB2}"/>
              </a:ext>
            </a:extLst>
          </p:cNvPr>
          <p:cNvSpPr txBox="1"/>
          <p:nvPr/>
        </p:nvSpPr>
        <p:spPr>
          <a:xfrm>
            <a:off x="539552" y="643813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24</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654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2862322"/>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Scope of Project:</a:t>
            </a:r>
          </a:p>
          <a:p>
            <a:endParaRPr lang="en-IN"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It can be used as one of the major prevention devices used to fight with COVID-19. Hence it can be used in any type of building or place where public gathers.</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In future, it can be used in hospitals and medical institutes.</a:t>
            </a:r>
          </a:p>
        </p:txBody>
      </p:sp>
      <p:sp>
        <p:nvSpPr>
          <p:cNvPr id="3" name="TextBox 2">
            <a:extLst>
              <a:ext uri="{FF2B5EF4-FFF2-40B4-BE49-F238E27FC236}">
                <a16:creationId xmlns:a16="http://schemas.microsoft.com/office/drawing/2014/main" id="{F54497D9-0474-78C1-98E4-8E81D1EBADD9}"/>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25</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944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2"/>
          <p:cNvSpPr txBox="1">
            <a:spLocks noChangeArrowheads="1"/>
          </p:cNvSpPr>
          <p:nvPr/>
        </p:nvSpPr>
        <p:spPr bwMode="auto">
          <a:xfrm>
            <a:off x="755576" y="404664"/>
            <a:ext cx="7848872" cy="4093428"/>
          </a:xfrm>
          <a:prstGeom prst="rect">
            <a:avLst/>
          </a:prstGeom>
          <a:noFill/>
          <a:ln w="9525">
            <a:noFill/>
            <a:miter lim="800000"/>
            <a:headEnd/>
            <a:tailEnd/>
          </a:ln>
        </p:spPr>
        <p:txBody>
          <a:bodyPr wrap="square">
            <a:spAutoFit/>
          </a:bodyPr>
          <a:lstStyle/>
          <a:p>
            <a:r>
              <a:rPr lang="en-IN" sz="4000" dirty="0">
                <a:solidFill>
                  <a:schemeClr val="tx1"/>
                </a:solidFill>
                <a:latin typeface="Times New Roman" pitchFamily="16" charset="0"/>
                <a:cs typeface="Times New Roman" pitchFamily="16" charset="0"/>
              </a:rPr>
              <a:t>Conclusion:</a:t>
            </a:r>
          </a:p>
          <a:p>
            <a:pPr marL="342900" indent="-342900">
              <a:buFont typeface="Arial" panose="020B0604020202020204" pitchFamily="34" charset="0"/>
              <a:buChar char="•"/>
            </a:pPr>
            <a:endParaRPr lang="en-IN"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Face Mask Detector system is very useful tool in this pandemic situation. It is difficult to check every person’s face mask where public has gathered. This tough, tedious and high-risk task can be made easy by using this system. </a:t>
            </a:r>
          </a:p>
          <a:p>
            <a:pPr marL="342900" indent="-342900" algn="just">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342900" indent="-342900" algn="just">
              <a:buFont typeface="Arial" panose="020B0604020202020204" pitchFamily="34" charset="0"/>
              <a:buChar char="•"/>
            </a:pPr>
            <a:r>
              <a:rPr lang="en-US" sz="2000" dirty="0">
                <a:solidFill>
                  <a:schemeClr val="tx1"/>
                </a:solidFill>
                <a:latin typeface="Times New Roman" pitchFamily="16" charset="0"/>
                <a:cs typeface="Times New Roman" pitchFamily="16" charset="0"/>
              </a:rPr>
              <a:t>It can be used in any type of building or place where public gathers in large number. It can be mounted on wall or placed in front of door of any room, so it will minimize the risk of infection as it separate outs people who are not wearing a mask. </a:t>
            </a:r>
            <a:endParaRPr lang="en-IN" sz="2000" dirty="0">
              <a:solidFill>
                <a:schemeClr val="tx1"/>
              </a:solidFill>
              <a:latin typeface="Times New Roman" pitchFamily="16" charset="0"/>
              <a:cs typeface="Times New Roman" pitchFamily="16" charset="0"/>
            </a:endParaRPr>
          </a:p>
        </p:txBody>
      </p:sp>
      <p:sp>
        <p:nvSpPr>
          <p:cNvPr id="3" name="TextBox 2">
            <a:extLst>
              <a:ext uri="{FF2B5EF4-FFF2-40B4-BE49-F238E27FC236}">
                <a16:creationId xmlns:a16="http://schemas.microsoft.com/office/drawing/2014/main" id="{92757266-2DC2-96D9-4F20-48CF2588FB94}"/>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26</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7216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476672"/>
            <a:ext cx="7286676" cy="6247864"/>
          </a:xfrm>
          <a:prstGeom prst="rect">
            <a:avLst/>
          </a:prstGeom>
        </p:spPr>
        <p:txBody>
          <a:bodyPr wrap="square">
            <a:spAutoFit/>
          </a:bodyPr>
          <a:lstStyle/>
          <a:p>
            <a:pPr marL="457200" indent="-457200"/>
            <a:r>
              <a:rPr lang="en-US" sz="4000" dirty="0">
                <a:solidFill>
                  <a:schemeClr val="tx1"/>
                </a:solidFill>
                <a:latin typeface="Times New Roman" pitchFamily="16" charset="0"/>
                <a:cs typeface="Times New Roman" pitchFamily="16" charset="0"/>
              </a:rPr>
              <a:t>References:</a:t>
            </a:r>
          </a:p>
          <a:p>
            <a:pPr marL="457200" indent="-457200">
              <a:buFont typeface="Arial" panose="020B0604020202020204" pitchFamily="34" charset="0"/>
              <a:buChar char="•"/>
            </a:pPr>
            <a:endParaRPr lang="en-US" sz="2000" dirty="0">
              <a:solidFill>
                <a:schemeClr val="tx1"/>
              </a:solidFill>
              <a:latin typeface="Times New Roman" pitchFamily="16" charset="0"/>
              <a:cs typeface="Times New Roman" pitchFamily="16" charset="0"/>
            </a:endParaRPr>
          </a:p>
          <a:p>
            <a:pPr marL="449263" indent="-449263" algn="just"/>
            <a:r>
              <a:rPr lang="en-US" sz="2000" dirty="0">
                <a:solidFill>
                  <a:schemeClr val="tx1"/>
                </a:solidFill>
                <a:latin typeface="Times New Roman" pitchFamily="16" charset="0"/>
                <a:cs typeface="Times New Roman" pitchFamily="16" charset="0"/>
              </a:rPr>
              <a:t>[1]  </a:t>
            </a:r>
            <a:r>
              <a:rPr lang="en-US" sz="2000" dirty="0" err="1">
                <a:solidFill>
                  <a:schemeClr val="tx1"/>
                </a:solidFill>
                <a:latin typeface="Times New Roman" pitchFamily="16" charset="0"/>
                <a:cs typeface="Times New Roman" pitchFamily="16" charset="0"/>
              </a:rPr>
              <a:t>Yukai</a:t>
            </a:r>
            <a:r>
              <a:rPr lang="en-US" sz="2000" dirty="0">
                <a:solidFill>
                  <a:schemeClr val="tx1"/>
                </a:solidFill>
                <a:latin typeface="Times New Roman" pitchFamily="16" charset="0"/>
                <a:cs typeface="Times New Roman" pitchFamily="16" charset="0"/>
              </a:rPr>
              <a:t> Shi; </a:t>
            </a:r>
            <a:r>
              <a:rPr lang="en-US" sz="2000" dirty="0" err="1">
                <a:solidFill>
                  <a:schemeClr val="tx1"/>
                </a:solidFill>
                <a:latin typeface="Times New Roman" pitchFamily="16" charset="0"/>
                <a:cs typeface="Times New Roman" pitchFamily="16" charset="0"/>
              </a:rPr>
              <a:t>Guanbin</a:t>
            </a:r>
            <a:r>
              <a:rPr lang="en-US" sz="2000" dirty="0">
                <a:solidFill>
                  <a:schemeClr val="tx1"/>
                </a:solidFill>
                <a:latin typeface="Times New Roman" pitchFamily="16" charset="0"/>
                <a:cs typeface="Times New Roman" pitchFamily="16" charset="0"/>
              </a:rPr>
              <a:t> Li; </a:t>
            </a:r>
            <a:r>
              <a:rPr lang="en-US" sz="2000" dirty="0" err="1">
                <a:solidFill>
                  <a:schemeClr val="tx1"/>
                </a:solidFill>
                <a:latin typeface="Times New Roman" pitchFamily="16" charset="0"/>
                <a:cs typeface="Times New Roman" pitchFamily="16" charset="0"/>
              </a:rPr>
              <a:t>Qingxing</a:t>
            </a:r>
            <a:r>
              <a:rPr lang="en-US" sz="2000" dirty="0">
                <a:solidFill>
                  <a:schemeClr val="tx1"/>
                </a:solidFill>
                <a:latin typeface="Times New Roman" pitchFamily="16" charset="0"/>
                <a:cs typeface="Times New Roman" pitchFamily="16" charset="0"/>
              </a:rPr>
              <a:t> Cao; </a:t>
            </a:r>
            <a:r>
              <a:rPr lang="en-US" sz="2000" dirty="0" err="1">
                <a:solidFill>
                  <a:schemeClr val="tx1"/>
                </a:solidFill>
                <a:latin typeface="Times New Roman" pitchFamily="16" charset="0"/>
                <a:cs typeface="Times New Roman" pitchFamily="16" charset="0"/>
              </a:rPr>
              <a:t>Keze</a:t>
            </a:r>
            <a:r>
              <a:rPr lang="en-US" sz="2000" dirty="0">
                <a:solidFill>
                  <a:schemeClr val="tx1"/>
                </a:solidFill>
                <a:latin typeface="Times New Roman" pitchFamily="16" charset="0"/>
                <a:cs typeface="Times New Roman" pitchFamily="16" charset="0"/>
              </a:rPr>
              <a:t> Wang; Liang Lin,</a:t>
            </a:r>
          </a:p>
          <a:p>
            <a:pPr marL="449263" indent="-449263" algn="just"/>
            <a:r>
              <a:rPr lang="en-US" sz="2000" dirty="0">
                <a:solidFill>
                  <a:schemeClr val="tx1"/>
                </a:solidFill>
                <a:latin typeface="Times New Roman" pitchFamily="16" charset="0"/>
                <a:cs typeface="Times New Roman" pitchFamily="16" charset="0"/>
              </a:rPr>
              <a:t>      “Face Hallucination by Attentive Sequence  Optimization with    Reinforcement Learning,” TPAMI, 2019.</a:t>
            </a:r>
          </a:p>
          <a:p>
            <a:pPr marL="449263" indent="-449263" algn="just"/>
            <a:r>
              <a:rPr lang="en-US" sz="2000" dirty="0">
                <a:solidFill>
                  <a:schemeClr val="tx1"/>
                </a:solidFill>
                <a:latin typeface="Times New Roman" pitchFamily="16" charset="0"/>
                <a:cs typeface="Times New Roman" pitchFamily="16" charset="0"/>
              </a:rPr>
              <a:t>[2]  Tanvir Ahmed; </a:t>
            </a:r>
            <a:r>
              <a:rPr lang="en-US" sz="2000" dirty="0" err="1">
                <a:solidFill>
                  <a:schemeClr val="tx1"/>
                </a:solidFill>
                <a:latin typeface="Times New Roman" pitchFamily="16" charset="0"/>
                <a:cs typeface="Times New Roman" pitchFamily="16" charset="0"/>
              </a:rPr>
              <a:t>Prangon</a:t>
            </a:r>
            <a:r>
              <a:rPr lang="en-US" sz="2000" dirty="0">
                <a:solidFill>
                  <a:schemeClr val="tx1"/>
                </a:solidFill>
                <a:latin typeface="Times New Roman" pitchFamily="16" charset="0"/>
                <a:cs typeface="Times New Roman" pitchFamily="16" charset="0"/>
              </a:rPr>
              <a:t> Das; Md. </a:t>
            </a:r>
            <a:r>
              <a:rPr lang="en-US" sz="2000" dirty="0" err="1">
                <a:solidFill>
                  <a:schemeClr val="tx1"/>
                </a:solidFill>
                <a:latin typeface="Times New Roman" pitchFamily="16" charset="0"/>
                <a:cs typeface="Times New Roman" pitchFamily="16" charset="0"/>
              </a:rPr>
              <a:t>Firoj</a:t>
            </a:r>
            <a:r>
              <a:rPr lang="en-US" sz="2000" dirty="0">
                <a:solidFill>
                  <a:schemeClr val="tx1"/>
                </a:solidFill>
                <a:latin typeface="Times New Roman" pitchFamily="16" charset="0"/>
                <a:cs typeface="Times New Roman" pitchFamily="16" charset="0"/>
              </a:rPr>
              <a:t> Ali; Md- Firoz Mahmud, “A Comparative Study on Convolutional </a:t>
            </a:r>
            <a:r>
              <a:rPr lang="en-US" sz="2000" dirty="0" err="1">
                <a:solidFill>
                  <a:schemeClr val="tx1"/>
                </a:solidFill>
                <a:latin typeface="Times New Roman" pitchFamily="16" charset="0"/>
                <a:cs typeface="Times New Roman" pitchFamily="16" charset="0"/>
              </a:rPr>
              <a:t>NeuralNetwork</a:t>
            </a:r>
            <a:r>
              <a:rPr lang="en-US" sz="2000" dirty="0">
                <a:solidFill>
                  <a:schemeClr val="tx1"/>
                </a:solidFill>
                <a:latin typeface="Times New Roman" pitchFamily="16" charset="0"/>
                <a:cs typeface="Times New Roman" pitchFamily="16" charset="0"/>
              </a:rPr>
              <a:t> Based Face Recognition,” ICCCNT, 2020.</a:t>
            </a:r>
          </a:p>
          <a:p>
            <a:pPr marL="449263" indent="-449263" algn="just"/>
            <a:r>
              <a:rPr lang="en-US" sz="2000" dirty="0">
                <a:solidFill>
                  <a:schemeClr val="tx1"/>
                </a:solidFill>
                <a:latin typeface="Times New Roman" pitchFamily="16" charset="0"/>
                <a:cs typeface="Times New Roman" pitchFamily="16" charset="0"/>
              </a:rPr>
              <a:t>[3] Truong Quang Vinh; Nguyen Tran Ngoc Anh, “Face Mask Detector with YOLOv3 Algorithm &amp; </a:t>
            </a:r>
            <a:r>
              <a:rPr lang="en-US" sz="2000" dirty="0" err="1">
                <a:solidFill>
                  <a:schemeClr val="tx1"/>
                </a:solidFill>
                <a:latin typeface="Times New Roman" pitchFamily="16" charset="0"/>
                <a:cs typeface="Times New Roman" pitchFamily="16" charset="0"/>
              </a:rPr>
              <a:t>Haar</a:t>
            </a:r>
            <a:r>
              <a:rPr lang="en-US" sz="2000" dirty="0">
                <a:solidFill>
                  <a:schemeClr val="tx1"/>
                </a:solidFill>
                <a:latin typeface="Times New Roman" pitchFamily="16" charset="0"/>
                <a:cs typeface="Times New Roman" pitchFamily="16" charset="0"/>
              </a:rPr>
              <a:t> Cascade Classifier,” ACOMP, 2020.</a:t>
            </a:r>
          </a:p>
          <a:p>
            <a:pPr marL="449263" indent="-449263" algn="just">
              <a:tabLst>
                <a:tab pos="355600" algn="l"/>
              </a:tabLst>
            </a:pPr>
            <a:r>
              <a:rPr lang="en-US" sz="2000" dirty="0">
                <a:solidFill>
                  <a:schemeClr val="tx1"/>
                </a:solidFill>
                <a:latin typeface="Times New Roman" pitchFamily="16" charset="0"/>
                <a:cs typeface="Times New Roman" pitchFamily="16" charset="0"/>
              </a:rPr>
              <a:t>[4] M Rohini; K.R </a:t>
            </a:r>
            <a:r>
              <a:rPr lang="en-US" sz="2000" dirty="0" err="1">
                <a:solidFill>
                  <a:schemeClr val="tx1"/>
                </a:solidFill>
                <a:latin typeface="Times New Roman" pitchFamily="16" charset="0"/>
                <a:cs typeface="Times New Roman" pitchFamily="16" charset="0"/>
              </a:rPr>
              <a:t>Naveena</a:t>
            </a:r>
            <a:r>
              <a:rPr lang="en-US" sz="2000" dirty="0">
                <a:solidFill>
                  <a:schemeClr val="tx1"/>
                </a:solidFill>
                <a:latin typeface="Times New Roman" pitchFamily="16" charset="0"/>
                <a:cs typeface="Times New Roman" pitchFamily="16" charset="0"/>
              </a:rPr>
              <a:t>; G </a:t>
            </a:r>
            <a:r>
              <a:rPr lang="en-US" sz="2000" dirty="0" err="1">
                <a:solidFill>
                  <a:schemeClr val="tx1"/>
                </a:solidFill>
                <a:latin typeface="Times New Roman" pitchFamily="16" charset="0"/>
                <a:cs typeface="Times New Roman" pitchFamily="16" charset="0"/>
              </a:rPr>
              <a:t>Jothipriya</a:t>
            </a:r>
            <a:r>
              <a:rPr lang="en-US" sz="2000" dirty="0">
                <a:solidFill>
                  <a:schemeClr val="tx1"/>
                </a:solidFill>
                <a:latin typeface="Times New Roman" pitchFamily="16" charset="0"/>
                <a:cs typeface="Times New Roman" pitchFamily="16" charset="0"/>
              </a:rPr>
              <a:t>; S </a:t>
            </a:r>
            <a:r>
              <a:rPr lang="en-US" sz="2000" dirty="0" err="1">
                <a:solidFill>
                  <a:schemeClr val="tx1"/>
                </a:solidFill>
                <a:latin typeface="Times New Roman" pitchFamily="16" charset="0"/>
                <a:cs typeface="Times New Roman" pitchFamily="16" charset="0"/>
              </a:rPr>
              <a:t>Kameshwaran</a:t>
            </a:r>
            <a:r>
              <a:rPr lang="en-US" sz="2000" dirty="0">
                <a:solidFill>
                  <a:schemeClr val="tx1"/>
                </a:solidFill>
                <a:latin typeface="Times New Roman" pitchFamily="16" charset="0"/>
                <a:cs typeface="Times New Roman" pitchFamily="16" charset="0"/>
              </a:rPr>
              <a:t>; M </a:t>
            </a:r>
            <a:r>
              <a:rPr lang="en-US" sz="2000" dirty="0" err="1">
                <a:solidFill>
                  <a:schemeClr val="tx1"/>
                </a:solidFill>
                <a:latin typeface="Times New Roman" pitchFamily="16" charset="0"/>
                <a:cs typeface="Times New Roman" pitchFamily="16" charset="0"/>
              </a:rPr>
              <a:t>Jagadeeswari</a:t>
            </a:r>
            <a:r>
              <a:rPr lang="en-US" sz="2000" dirty="0">
                <a:solidFill>
                  <a:schemeClr val="tx1"/>
                </a:solidFill>
                <a:latin typeface="Times New Roman" pitchFamily="16" charset="0"/>
                <a:cs typeface="Times New Roman" pitchFamily="16" charset="0"/>
              </a:rPr>
              <a:t>, “A Comparative Approach To Predict Corona Virus Using Machine Learning,” ICAIS, 2021.</a:t>
            </a:r>
          </a:p>
          <a:p>
            <a:pPr marL="449263" indent="-449263" algn="just"/>
            <a:r>
              <a:rPr lang="en-US" sz="2000" dirty="0">
                <a:solidFill>
                  <a:schemeClr val="tx1"/>
                </a:solidFill>
                <a:latin typeface="Times New Roman" pitchFamily="16" charset="0"/>
                <a:cs typeface="Times New Roman" pitchFamily="16" charset="0"/>
              </a:rPr>
              <a:t>[5] </a:t>
            </a:r>
            <a:r>
              <a:rPr lang="en-US" sz="2000" dirty="0" err="1">
                <a:solidFill>
                  <a:schemeClr val="tx1"/>
                </a:solidFill>
                <a:latin typeface="Times New Roman" pitchFamily="16" charset="0"/>
                <a:cs typeface="Times New Roman" pitchFamily="16" charset="0"/>
              </a:rPr>
              <a:t>Wuttichai</a:t>
            </a:r>
            <a:r>
              <a:rPr lang="en-US" sz="2000" dirty="0">
                <a:solidFill>
                  <a:schemeClr val="tx1"/>
                </a:solidFill>
                <a:latin typeface="Times New Roman" pitchFamily="16" charset="0"/>
                <a:cs typeface="Times New Roman" pitchFamily="16" charset="0"/>
              </a:rPr>
              <a:t> </a:t>
            </a:r>
            <a:r>
              <a:rPr lang="en-US" sz="2000" dirty="0" err="1">
                <a:solidFill>
                  <a:schemeClr val="tx1"/>
                </a:solidFill>
                <a:latin typeface="Times New Roman" pitchFamily="16" charset="0"/>
                <a:cs typeface="Times New Roman" pitchFamily="16" charset="0"/>
              </a:rPr>
              <a:t>Vijitkunsawat</a:t>
            </a:r>
            <a:r>
              <a:rPr lang="en-US" sz="2000" dirty="0">
                <a:solidFill>
                  <a:schemeClr val="tx1"/>
                </a:solidFill>
                <a:latin typeface="Times New Roman" pitchFamily="16" charset="0"/>
                <a:cs typeface="Times New Roman" pitchFamily="16" charset="0"/>
              </a:rPr>
              <a:t>; </a:t>
            </a:r>
            <a:r>
              <a:rPr lang="en-US" sz="2000" dirty="0" err="1">
                <a:solidFill>
                  <a:schemeClr val="tx1"/>
                </a:solidFill>
                <a:latin typeface="Times New Roman" pitchFamily="16" charset="0"/>
                <a:cs typeface="Times New Roman" pitchFamily="16" charset="0"/>
              </a:rPr>
              <a:t>Peerasak</a:t>
            </a:r>
            <a:r>
              <a:rPr lang="en-US" sz="2000" dirty="0">
                <a:solidFill>
                  <a:schemeClr val="tx1"/>
                </a:solidFill>
                <a:latin typeface="Times New Roman" pitchFamily="16" charset="0"/>
                <a:cs typeface="Times New Roman" pitchFamily="16" charset="0"/>
              </a:rPr>
              <a:t> </a:t>
            </a:r>
            <a:r>
              <a:rPr lang="en-US" sz="2000" dirty="0" err="1">
                <a:solidFill>
                  <a:schemeClr val="tx1"/>
                </a:solidFill>
                <a:latin typeface="Times New Roman" pitchFamily="16" charset="0"/>
                <a:cs typeface="Times New Roman" pitchFamily="16" charset="0"/>
              </a:rPr>
              <a:t>Chantngarm</a:t>
            </a:r>
            <a:r>
              <a:rPr lang="en-US" sz="2000" dirty="0">
                <a:solidFill>
                  <a:schemeClr val="tx1"/>
                </a:solidFill>
                <a:latin typeface="Times New Roman" pitchFamily="16" charset="0"/>
                <a:cs typeface="Times New Roman" pitchFamily="16" charset="0"/>
              </a:rPr>
              <a:t>, “Study of the Performance of Algorithms for Face Mask Detection,” </a:t>
            </a:r>
            <a:r>
              <a:rPr lang="en-US" sz="2000" dirty="0" err="1">
                <a:solidFill>
                  <a:schemeClr val="tx1"/>
                </a:solidFill>
                <a:latin typeface="Times New Roman" pitchFamily="16" charset="0"/>
                <a:cs typeface="Times New Roman" pitchFamily="16" charset="0"/>
              </a:rPr>
              <a:t>InCIT</a:t>
            </a:r>
            <a:r>
              <a:rPr lang="en-US" sz="2000" dirty="0">
                <a:solidFill>
                  <a:schemeClr val="tx1"/>
                </a:solidFill>
                <a:latin typeface="Times New Roman" pitchFamily="16" charset="0"/>
                <a:cs typeface="Times New Roman" pitchFamily="16" charset="0"/>
              </a:rPr>
              <a:t>, 2020.</a:t>
            </a:r>
          </a:p>
          <a:p>
            <a:pPr marL="342900" indent="-342900"/>
            <a:endParaRPr lang="en-US" sz="4000" dirty="0">
              <a:solidFill>
                <a:schemeClr val="tx1"/>
              </a:solidFill>
              <a:latin typeface="Times New Roman" pitchFamily="16" charset="0"/>
              <a:cs typeface="Times New Roman" pitchFamily="16" charset="0"/>
            </a:endParaRPr>
          </a:p>
        </p:txBody>
      </p:sp>
      <p:sp>
        <p:nvSpPr>
          <p:cNvPr id="3" name="TextBox 2">
            <a:extLst>
              <a:ext uri="{FF2B5EF4-FFF2-40B4-BE49-F238E27FC236}">
                <a16:creationId xmlns:a16="http://schemas.microsoft.com/office/drawing/2014/main" id="{77721BE6-C20B-EBEC-51EA-B5F1F6556F0A}"/>
              </a:ext>
            </a:extLst>
          </p:cNvPr>
          <p:cNvSpPr txBox="1"/>
          <p:nvPr/>
        </p:nvSpPr>
        <p:spPr>
          <a:xfrm>
            <a:off x="503548" y="6401469"/>
            <a:ext cx="8352928" cy="24622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sz="1000" dirty="0">
                <a:latin typeface="Times New Roman" panose="02020603050405020304" pitchFamily="18" charset="0"/>
                <a:cs typeface="Times New Roman" panose="02020603050405020304" pitchFamily="18" charset="0"/>
              </a:rPr>
              <a:t>Face Mask Detector                                                                                                                                                                                                                            27</a:t>
            </a:r>
            <a:endParaRPr lang="en-I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4641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Text Box 1"/>
          <p:cNvSpPr txBox="1">
            <a:spLocks noChangeArrowheads="1"/>
          </p:cNvSpPr>
          <p:nvPr/>
        </p:nvSpPr>
        <p:spPr bwMode="auto">
          <a:xfrm>
            <a:off x="2476500" y="2847975"/>
            <a:ext cx="4191000" cy="581025"/>
          </a:xfrm>
          <a:prstGeom prst="rect">
            <a:avLst/>
          </a:prstGeom>
          <a:noFill/>
          <a:ln w="9525">
            <a:noFill/>
            <a:round/>
            <a:headEnd/>
            <a:tailEnd/>
          </a:ln>
        </p:spPr>
        <p:txBody>
          <a:bodyPr lIns="90000" tIns="46800" rIns="90000" bIns="46800">
            <a:spAutoFit/>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3200" b="1">
                <a:solidFill>
                  <a:srgbClr val="000000"/>
                </a:solidFill>
                <a:latin typeface="Times New Roman" pitchFamily="16" charset="0"/>
                <a:cs typeface="Times New Roman" pitchFamily="16" charset="0"/>
              </a:rPr>
              <a:t>Thank you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anklin Gothic Book"/>
        <a:ea typeface="WenQuanYi Micro Hei"/>
        <a:cs typeface="WenQuanYi Micro Hei"/>
      </a:majorFont>
      <a:minorFont>
        <a:latin typeface="Perpetua"/>
        <a:ea typeface="WenQuanYi Micro Hei"/>
        <a:cs typeface="WenQuanYi Micro 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1703</TotalTime>
  <Words>1345</Words>
  <Application>Microsoft Office PowerPoint</Application>
  <PresentationFormat>On-screen Show (4:3)</PresentationFormat>
  <Paragraphs>277</Paragraphs>
  <Slides>28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Franklin Gothic Book</vt:lpstr>
      <vt:lpstr>Goudy Old Style</vt:lpstr>
      <vt:lpstr>Perpetua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shreekant</dc:creator>
  <cp:lastModifiedBy>ashish bagul</cp:lastModifiedBy>
  <cp:revision>123</cp:revision>
  <cp:lastPrinted>1601-01-01T00:00:00Z</cp:lastPrinted>
  <dcterms:created xsi:type="dcterms:W3CDTF">2011-06-28T01:22:54Z</dcterms:created>
  <dcterms:modified xsi:type="dcterms:W3CDTF">2022-05-30T05:41:10Z</dcterms:modified>
</cp:coreProperties>
</file>